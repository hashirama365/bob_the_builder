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seconds.
Opening line: ChangeGuard solves a very common engineering failure mode: parallel work that looks independent in Jira but is coupled in the codebase.
Say: Two developers can touch the same file, or one ticket can silently depend on a prerequisite that has not landed. ChangeGuard gives the team change intelligence before coding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35 seconds.
Say: The pipeline is intentionally simple. First, normalize the request. Second, read the repository and predict relevant code areas. Third, compare ticket pairs for two distinct risks: logical dependencies and change collisions. Fourth, deterministic code builds the graph, and a report agent writes the developer brief.
Emphasize: A dependency is a sequencing problem. A collision is a coordination problem. ChangeGuard keeps them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seconds.
Say: This is not just prompt engineering. The LLM does bounded reasoning, but the system surrounds it with deterministic structure.
Tickets are normalized into typed inputs, agents return locked JSON, and the graph is built by code. Even the independent flag is recalculated in code, so correctness-critical logic is not left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90 seconds.
Demo path: 1) Run `changeguard run`. 2) Open the graph output and point to dependency vs collision edges. 3) Run `changeguard report CG-102` and read one useful recommendation.
Keep the demo tight. Do not explain every file. The judges only need to see that the system turns real tickets into coordination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30 seconds.
Close with impact: ChangeGuard reduces merge surprises, missing-prerequisite rework, and tribal-knowledge handoffs.
Final sentence: ChangeGuard does not replace engineers; it gives them the missing map of in-flight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E7490"/>
          </a:solidFill>
          <a:ln w="12700">
            <a:solidFill>
              <a:srgbClr val="0E7490"/>
            </a:solidFill>
            <a:prstDash val="solid"/>
          </a:ln>
        </p:spPr>
      </p:sp>
      <p:sp>
        <p:nvSpPr>
          <p:cNvPr id="3" name="Text 1"/>
          <p:cNvSpPr/>
          <p:nvPr/>
        </p:nvSpPr>
        <p:spPr>
          <a:xfrm>
            <a:off x="502920" y="6492240"/>
            <a:ext cx="2377440" cy="164592"/>
          </a:xfrm>
          <a:prstGeom prst="rect">
            <a:avLst/>
          </a:prstGeom>
          <a:noFill/>
          <a:ln/>
        </p:spPr>
        <p:txBody>
          <a:bodyPr wrap="square" lIns="0" tIns="0" rIns="0" bIns="0" rtlCol="0" anchor="ctr"/>
          <a:lstStyle/>
          <a:p>
            <a:pPr indent="0" marL="0">
              <a:buNone/>
            </a:pPr>
            <a:r>
              <a:rPr lang="en-US" sz="780" b="1" dirty="0">
                <a:solidFill>
                  <a:srgbClr val="7A8493"/>
                </a:solidFill>
                <a:latin typeface="Aptos" pitchFamily="34" charset="0"/>
                <a:ea typeface="Aptos" pitchFamily="34" charset="-122"/>
                <a:cs typeface="Aptos" pitchFamily="34" charset="-120"/>
              </a:rPr>
              <a:t>CHANGEGUARD · 3 MIN DEMO</a:t>
            </a:r>
            <a:endParaRPr lang="en-US" sz="780" dirty="0"/>
          </a:p>
        </p:txBody>
      </p:sp>
      <p:sp>
        <p:nvSpPr>
          <p:cNvPr id="25" name="Slide Number Placeholder 0"/>
          <p:cNvSpPr>
            <a:spLocks noGrp="1"/>
          </p:cNvSpPr>
          <p:nvPr>
            <p:ph type="sldNum" sz="quarter" idx="4294967295"/>
          </p:nvPr>
        </p:nvSpPr>
        <p:spPr>
          <a:xfrm>
            <a:off x="11475720" y="6419088"/>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8B95A3"/>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19088"/>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8B95A3"/>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5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F2A5A"/>
          </a:solidFill>
          <a:ln w="12700">
            <a:solidFill>
              <a:srgbClr val="1F2A5A"/>
            </a:solidFill>
            <a:prstDash val="solid"/>
          </a:ln>
        </p:spPr>
      </p:sp>
      <p:sp>
        <p:nvSpPr>
          <p:cNvPr id="3" name="Text 1"/>
          <p:cNvSpPr/>
          <p:nvPr/>
        </p:nvSpPr>
        <p:spPr>
          <a:xfrm>
            <a:off x="749808" y="896112"/>
            <a:ext cx="5943600" cy="658368"/>
          </a:xfrm>
          <a:prstGeom prst="rect">
            <a:avLst/>
          </a:prstGeom>
          <a:noFill/>
          <a:ln/>
        </p:spPr>
        <p:txBody>
          <a:bodyPr wrap="square" lIns="0" tIns="0" rIns="0" bIns="0" rtlCol="0" anchor="ct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ChangeGuard</a:t>
            </a:r>
            <a:endParaRPr lang="en-US" sz="4200" dirty="0"/>
          </a:p>
        </p:txBody>
      </p:sp>
      <p:sp>
        <p:nvSpPr>
          <p:cNvPr id="4" name="Text 2"/>
          <p:cNvSpPr/>
          <p:nvPr/>
        </p:nvSpPr>
        <p:spPr>
          <a:xfrm>
            <a:off x="786384" y="1673352"/>
            <a:ext cx="6583680" cy="411480"/>
          </a:xfrm>
          <a:prstGeom prst="rect">
            <a:avLst/>
          </a:prstGeom>
          <a:noFill/>
          <a:ln/>
        </p:spPr>
        <p:txBody>
          <a:bodyPr wrap="square" lIns="0" tIns="0" rIns="0" bIns="0" rtlCol="0" anchor="ctr"/>
          <a:lstStyle/>
          <a:p>
            <a:pPr indent="0" marL="0">
              <a:buNone/>
            </a:pPr>
            <a:r>
              <a:rPr lang="en-US" sz="2300" b="1" dirty="0">
                <a:solidFill>
                  <a:srgbClr val="67C5DA"/>
                </a:solidFill>
              </a:rPr>
              <a:t>See the collision before the merge.</a:t>
            </a:r>
            <a:endParaRPr lang="en-US" sz="2300" dirty="0"/>
          </a:p>
        </p:txBody>
      </p:sp>
      <p:sp>
        <p:nvSpPr>
          <p:cNvPr id="5" name="Text 3"/>
          <p:cNvSpPr/>
          <p:nvPr/>
        </p:nvSpPr>
        <p:spPr>
          <a:xfrm>
            <a:off x="804672" y="2240280"/>
            <a:ext cx="6035040" cy="310896"/>
          </a:xfrm>
          <a:prstGeom prst="rect">
            <a:avLst/>
          </a:prstGeom>
          <a:noFill/>
          <a:ln/>
        </p:spPr>
        <p:txBody>
          <a:bodyPr wrap="square" lIns="0" tIns="0" rIns="0" bIns="0" rtlCol="0" anchor="ctr"/>
          <a:lstStyle/>
          <a:p>
            <a:pPr indent="0" marL="0">
              <a:buNone/>
            </a:pPr>
            <a:r>
              <a:rPr lang="en-US" sz="1450" dirty="0">
                <a:solidFill>
                  <a:srgbClr val="DCE8F6"/>
                </a:solidFill>
              </a:rPr>
              <a:t>AI-powered change intelligence for parallel engineering teams</a:t>
            </a:r>
            <a:endParaRPr lang="en-US" sz="1450" dirty="0"/>
          </a:p>
        </p:txBody>
      </p:sp>
      <p:sp>
        <p:nvSpPr>
          <p:cNvPr id="6" name="Shape 4"/>
          <p:cNvSpPr/>
          <p:nvPr/>
        </p:nvSpPr>
        <p:spPr>
          <a:xfrm>
            <a:off x="822960" y="2871216"/>
            <a:ext cx="1371600" cy="283464"/>
          </a:xfrm>
          <a:prstGeom prst="roundRect">
            <a:avLst>
              <a:gd name="adj" fmla="val 25806"/>
            </a:avLst>
          </a:prstGeom>
          <a:solidFill>
            <a:srgbClr val="31406F"/>
          </a:solidFill>
          <a:ln w="12700">
            <a:solidFill>
              <a:srgbClr val="31406F"/>
            </a:solidFill>
            <a:prstDash val="solid"/>
          </a:ln>
        </p:spPr>
      </p:sp>
      <p:sp>
        <p:nvSpPr>
          <p:cNvPr id="7" name="Text 5"/>
          <p:cNvSpPr/>
          <p:nvPr/>
        </p:nvSpPr>
        <p:spPr>
          <a:xfrm>
            <a:off x="896112" y="2930652"/>
            <a:ext cx="1225296" cy="146304"/>
          </a:xfrm>
          <a:prstGeom prst="rect">
            <a:avLst/>
          </a:prstGeom>
          <a:noFill/>
          <a:ln/>
        </p:spPr>
        <p:txBody>
          <a:bodyPr wrap="square" lIns="0" tIns="0" rIns="0" bIns="0" rtlCol="0" anchor="ctr">
            <a:normAutofit/>
          </a:bodyPr>
          <a:lstStyle/>
          <a:p>
            <a:pPr algn="ctr" indent="0" marL="0">
              <a:buNone/>
            </a:pPr>
            <a:r>
              <a:rPr lang="en-US" sz="840" b="1" dirty="0">
                <a:solidFill>
                  <a:srgbClr val="CFEAF2"/>
                </a:solidFill>
              </a:rPr>
              <a:t>PROBLEM</a:t>
            </a:r>
            <a:endParaRPr lang="en-US" sz="840" dirty="0"/>
          </a:p>
        </p:txBody>
      </p:sp>
      <p:sp>
        <p:nvSpPr>
          <p:cNvPr id="8" name="Text 6"/>
          <p:cNvSpPr/>
          <p:nvPr/>
        </p:nvSpPr>
        <p:spPr>
          <a:xfrm>
            <a:off x="822960" y="3364992"/>
            <a:ext cx="5577840" cy="658368"/>
          </a:xfrm>
          <a:prstGeom prst="rect">
            <a:avLst/>
          </a:prstGeom>
          <a:noFill/>
          <a:ln/>
        </p:spPr>
        <p:txBody>
          <a:bodyPr wrap="square" lIns="0" tIns="0" rIns="0" bIns="0" rtlCol="0" anchor="ctr">
            <a:normAutofit/>
          </a:bodyPr>
          <a:lstStyle/>
          <a:p>
            <a:pPr indent="0" marL="0">
              <a:buNone/>
            </a:pPr>
            <a:r>
              <a:rPr lang="en-US" sz="1800" b="1" dirty="0">
                <a:solidFill>
                  <a:srgbClr val="FFFFFF"/>
                </a:solidFill>
              </a:rPr>
              <a:t>Parallel tickets collide on files or depend on work that has not landed yet.</a:t>
            </a:r>
            <a:endParaRPr lang="en-US" sz="1800" dirty="0"/>
          </a:p>
        </p:txBody>
      </p:sp>
      <p:sp>
        <p:nvSpPr>
          <p:cNvPr id="9" name="Shape 7"/>
          <p:cNvSpPr/>
          <p:nvPr/>
        </p:nvSpPr>
        <p:spPr>
          <a:xfrm>
            <a:off x="822960" y="4315968"/>
            <a:ext cx="1417320" cy="283464"/>
          </a:xfrm>
          <a:prstGeom prst="roundRect">
            <a:avLst>
              <a:gd name="adj" fmla="val 25806"/>
            </a:avLst>
          </a:prstGeom>
          <a:solidFill>
            <a:srgbClr val="31406F"/>
          </a:solidFill>
          <a:ln w="12700">
            <a:solidFill>
              <a:srgbClr val="31406F"/>
            </a:solidFill>
            <a:prstDash val="solid"/>
          </a:ln>
        </p:spPr>
      </p:sp>
      <p:sp>
        <p:nvSpPr>
          <p:cNvPr id="10" name="Text 8"/>
          <p:cNvSpPr/>
          <p:nvPr/>
        </p:nvSpPr>
        <p:spPr>
          <a:xfrm>
            <a:off x="896112" y="4375404"/>
            <a:ext cx="1271016" cy="146304"/>
          </a:xfrm>
          <a:prstGeom prst="rect">
            <a:avLst/>
          </a:prstGeom>
          <a:noFill/>
          <a:ln/>
        </p:spPr>
        <p:txBody>
          <a:bodyPr wrap="square" lIns="0" tIns="0" rIns="0" bIns="0" rtlCol="0" anchor="ctr">
            <a:normAutofit/>
          </a:bodyPr>
          <a:lstStyle/>
          <a:p>
            <a:pPr algn="ctr" indent="0" marL="0">
              <a:buNone/>
            </a:pPr>
            <a:r>
              <a:rPr lang="en-US" sz="840" b="1" dirty="0">
                <a:solidFill>
                  <a:srgbClr val="CFEAF2"/>
                </a:solidFill>
              </a:rPr>
              <a:t>PROMISE</a:t>
            </a:r>
            <a:endParaRPr lang="en-US" sz="840" dirty="0"/>
          </a:p>
        </p:txBody>
      </p:sp>
      <p:sp>
        <p:nvSpPr>
          <p:cNvPr id="11" name="Text 9"/>
          <p:cNvSpPr/>
          <p:nvPr/>
        </p:nvSpPr>
        <p:spPr>
          <a:xfrm>
            <a:off x="822960" y="4809744"/>
            <a:ext cx="5623560" cy="841248"/>
          </a:xfrm>
          <a:prstGeom prst="rect">
            <a:avLst/>
          </a:prstGeom>
          <a:noFill/>
          <a:ln/>
        </p:spPr>
        <p:txBody>
          <a:bodyPr wrap="square" lIns="0" tIns="0" rIns="0" bIns="0" rtlCol="0" anchor="ctr">
            <a:normAutofit/>
          </a:bodyPr>
          <a:lstStyle/>
          <a:p>
            <a:pPr indent="0" marL="0">
              <a:buNone/>
            </a:pPr>
            <a:r>
              <a:rPr lang="en-US" sz="1800" b="1" dirty="0">
                <a:solidFill>
                  <a:srgbClr val="67C5DA"/>
                </a:solidFill>
              </a:rPr>
              <a:t>ChangeGuard turns tickets + repo context into a dependency/collision graph and a 60-second developer brief.</a:t>
            </a:r>
            <a:endParaRPr lang="en-US" sz="1800" dirty="0"/>
          </a:p>
        </p:txBody>
      </p:sp>
      <p:sp>
        <p:nvSpPr>
          <p:cNvPr id="12" name="Shape 10"/>
          <p:cNvSpPr/>
          <p:nvPr/>
        </p:nvSpPr>
        <p:spPr>
          <a:xfrm>
            <a:off x="7452360" y="1234440"/>
            <a:ext cx="1874520" cy="914400"/>
          </a:xfrm>
          <a:prstGeom prst="roundRect">
            <a:avLst>
              <a:gd name="adj" fmla="val 7000"/>
            </a:avLst>
          </a:prstGeom>
          <a:solidFill>
            <a:srgbClr val="31406F"/>
          </a:solidFill>
          <a:ln w="12700">
            <a:solidFill>
              <a:srgbClr val="31406F"/>
            </a:solidFill>
            <a:prstDash val="solid"/>
          </a:ln>
        </p:spPr>
      </p:sp>
      <p:sp>
        <p:nvSpPr>
          <p:cNvPr id="13" name="Text 11"/>
          <p:cNvSpPr/>
          <p:nvPr/>
        </p:nvSpPr>
        <p:spPr>
          <a:xfrm>
            <a:off x="7562088" y="1325880"/>
            <a:ext cx="1655064" cy="164592"/>
          </a:xfrm>
          <a:prstGeom prst="rect">
            <a:avLst/>
          </a:prstGeom>
          <a:noFill/>
          <a:ln/>
        </p:spPr>
        <p:txBody>
          <a:bodyPr wrap="square" lIns="0" tIns="0" rIns="0" bIns="0" rtlCol="0" anchor="ctr"/>
          <a:lstStyle/>
          <a:p>
            <a:pPr algn="ctr" indent="0" marL="0">
              <a:buNone/>
            </a:pPr>
            <a:r>
              <a:rPr lang="en-US" sz="920" b="1" dirty="0">
                <a:solidFill>
                  <a:srgbClr val="FFFFFF"/>
                </a:solidFill>
              </a:rPr>
              <a:t>CG-101</a:t>
            </a:r>
            <a:endParaRPr lang="en-US" sz="920" dirty="0"/>
          </a:p>
        </p:txBody>
      </p:sp>
      <p:sp>
        <p:nvSpPr>
          <p:cNvPr id="14" name="Text 12"/>
          <p:cNvSpPr/>
          <p:nvPr/>
        </p:nvSpPr>
        <p:spPr>
          <a:xfrm>
            <a:off x="7562088" y="1545336"/>
            <a:ext cx="1655064" cy="530352"/>
          </a:xfrm>
          <a:prstGeom prst="rect">
            <a:avLst/>
          </a:prstGeom>
          <a:noFill/>
          <a:ln/>
        </p:spPr>
        <p:txBody>
          <a:bodyPr wrap="square" lIns="0" tIns="0" rIns="0" bIns="0" rtlCol="0" anchor="ctr">
            <a:normAutofit/>
          </a:bodyPr>
          <a:lstStyle/>
          <a:p>
            <a:pPr algn="ctr" indent="0" marL="0">
              <a:buNone/>
            </a:pPr>
            <a:r>
              <a:rPr lang="en-US" sz="850" dirty="0">
                <a:solidFill>
                  <a:srgbClr val="E8EEF9"/>
                </a:solidFill>
              </a:rPr>
              <a:t>Hold status</a:t>
            </a:r>
            <a:endParaRPr lang="en-US" sz="850" dirty="0"/>
          </a:p>
        </p:txBody>
      </p:sp>
      <p:sp>
        <p:nvSpPr>
          <p:cNvPr id="15" name="Shape 13"/>
          <p:cNvSpPr/>
          <p:nvPr/>
        </p:nvSpPr>
        <p:spPr>
          <a:xfrm>
            <a:off x="9646920" y="1234440"/>
            <a:ext cx="1874520" cy="914400"/>
          </a:xfrm>
          <a:prstGeom prst="roundRect">
            <a:avLst>
              <a:gd name="adj" fmla="val 7000"/>
            </a:avLst>
          </a:prstGeom>
          <a:solidFill>
            <a:srgbClr val="31406F"/>
          </a:solidFill>
          <a:ln w="12700">
            <a:solidFill>
              <a:srgbClr val="31406F"/>
            </a:solidFill>
            <a:prstDash val="solid"/>
          </a:ln>
        </p:spPr>
      </p:sp>
      <p:sp>
        <p:nvSpPr>
          <p:cNvPr id="16" name="Text 14"/>
          <p:cNvSpPr/>
          <p:nvPr/>
        </p:nvSpPr>
        <p:spPr>
          <a:xfrm>
            <a:off x="9756648" y="1325880"/>
            <a:ext cx="1655064" cy="164592"/>
          </a:xfrm>
          <a:prstGeom prst="rect">
            <a:avLst/>
          </a:prstGeom>
          <a:noFill/>
          <a:ln/>
        </p:spPr>
        <p:txBody>
          <a:bodyPr wrap="square" lIns="0" tIns="0" rIns="0" bIns="0" rtlCol="0" anchor="ctr"/>
          <a:lstStyle/>
          <a:p>
            <a:pPr algn="ctr" indent="0" marL="0">
              <a:buNone/>
            </a:pPr>
            <a:r>
              <a:rPr lang="en-US" sz="920" b="1" dirty="0">
                <a:solidFill>
                  <a:srgbClr val="FFFFFF"/>
                </a:solidFill>
              </a:rPr>
              <a:t>CG-102</a:t>
            </a:r>
            <a:endParaRPr lang="en-US" sz="920" dirty="0"/>
          </a:p>
        </p:txBody>
      </p:sp>
      <p:sp>
        <p:nvSpPr>
          <p:cNvPr id="17" name="Text 15"/>
          <p:cNvSpPr/>
          <p:nvPr/>
        </p:nvSpPr>
        <p:spPr>
          <a:xfrm>
            <a:off x="9756648" y="1545336"/>
            <a:ext cx="1655064" cy="530352"/>
          </a:xfrm>
          <a:prstGeom prst="rect">
            <a:avLst/>
          </a:prstGeom>
          <a:noFill/>
          <a:ln/>
        </p:spPr>
        <p:txBody>
          <a:bodyPr wrap="square" lIns="0" tIns="0" rIns="0" bIns="0" rtlCol="0" anchor="ctr">
            <a:normAutofit/>
          </a:bodyPr>
          <a:lstStyle/>
          <a:p>
            <a:pPr algn="ctr" indent="0" marL="0">
              <a:buNone/>
            </a:pPr>
            <a:r>
              <a:rPr lang="en-US" sz="850" dirty="0">
                <a:solidFill>
                  <a:srgbClr val="E8EEF9"/>
                </a:solidFill>
              </a:rPr>
              <a:t>Billing guard</a:t>
            </a:r>
            <a:endParaRPr lang="en-US" sz="850" dirty="0"/>
          </a:p>
        </p:txBody>
      </p:sp>
      <p:sp>
        <p:nvSpPr>
          <p:cNvPr id="18" name="Shape 16"/>
          <p:cNvSpPr/>
          <p:nvPr/>
        </p:nvSpPr>
        <p:spPr>
          <a:xfrm>
            <a:off x="8549640" y="4343400"/>
            <a:ext cx="1874520" cy="914400"/>
          </a:xfrm>
          <a:prstGeom prst="roundRect">
            <a:avLst>
              <a:gd name="adj" fmla="val 7000"/>
            </a:avLst>
          </a:prstGeom>
          <a:solidFill>
            <a:srgbClr val="0E7490"/>
          </a:solidFill>
          <a:ln w="12700">
            <a:solidFill>
              <a:srgbClr val="0E7490"/>
            </a:solidFill>
            <a:prstDash val="solid"/>
          </a:ln>
        </p:spPr>
      </p:sp>
      <p:sp>
        <p:nvSpPr>
          <p:cNvPr id="19" name="Text 17"/>
          <p:cNvSpPr/>
          <p:nvPr/>
        </p:nvSpPr>
        <p:spPr>
          <a:xfrm>
            <a:off x="8659368" y="4434840"/>
            <a:ext cx="1655064" cy="164592"/>
          </a:xfrm>
          <a:prstGeom prst="rect">
            <a:avLst/>
          </a:prstGeom>
          <a:noFill/>
          <a:ln/>
        </p:spPr>
        <p:txBody>
          <a:bodyPr wrap="square" lIns="0" tIns="0" rIns="0" bIns="0" rtlCol="0" anchor="ctr"/>
          <a:lstStyle/>
          <a:p>
            <a:pPr algn="ctr" indent="0" marL="0">
              <a:buNone/>
            </a:pPr>
            <a:r>
              <a:rPr lang="en-US" sz="920" b="1" dirty="0">
                <a:solidFill>
                  <a:srgbClr val="FFFFFF"/>
                </a:solidFill>
              </a:rPr>
              <a:t>shared file</a:t>
            </a:r>
            <a:endParaRPr lang="en-US" sz="920" dirty="0"/>
          </a:p>
        </p:txBody>
      </p:sp>
      <p:sp>
        <p:nvSpPr>
          <p:cNvPr id="20" name="Text 18"/>
          <p:cNvSpPr/>
          <p:nvPr/>
        </p:nvSpPr>
        <p:spPr>
          <a:xfrm>
            <a:off x="8659368" y="4654296"/>
            <a:ext cx="1655064" cy="530352"/>
          </a:xfrm>
          <a:prstGeom prst="rect">
            <a:avLst/>
          </a:prstGeom>
          <a:noFill/>
          <a:ln/>
        </p:spPr>
        <p:txBody>
          <a:bodyPr wrap="square" lIns="0" tIns="0" rIns="0" bIns="0" rtlCol="0" anchor="ctr">
            <a:normAutofit/>
          </a:bodyPr>
          <a:lstStyle/>
          <a:p>
            <a:pPr algn="ctr" indent="0" marL="0">
              <a:buNone/>
            </a:pPr>
            <a:r>
              <a:rPr lang="en-US" sz="850" dirty="0">
                <a:solidFill>
                  <a:srgbClr val="E8EEF9"/>
                </a:solidFill>
              </a:rPr>
              <a:t>bookings.ts</a:t>
            </a:r>
            <a:endParaRPr lang="en-US" sz="850" dirty="0"/>
          </a:p>
        </p:txBody>
      </p:sp>
      <p:sp>
        <p:nvSpPr>
          <p:cNvPr id="21" name="Shape 19"/>
          <p:cNvSpPr/>
          <p:nvPr/>
        </p:nvSpPr>
        <p:spPr>
          <a:xfrm>
            <a:off x="8394192" y="2157984"/>
            <a:ext cx="1051560" cy="2148840"/>
          </a:xfrm>
          <a:prstGeom prst="line">
            <a:avLst/>
          </a:prstGeom>
          <a:noFill/>
          <a:ln w="27940">
            <a:solidFill>
              <a:srgbClr val="67C5DA"/>
            </a:solidFill>
            <a:prstDash val="dash"/>
            <a:tailEnd type="triangle"/>
          </a:ln>
        </p:spPr>
      </p:sp>
      <p:sp>
        <p:nvSpPr>
          <p:cNvPr id="22" name="Shape 20"/>
          <p:cNvSpPr/>
          <p:nvPr/>
        </p:nvSpPr>
        <p:spPr>
          <a:xfrm>
            <a:off x="10588752" y="2157984"/>
            <a:ext cx="-1024128" cy="2148840"/>
          </a:xfrm>
          <a:prstGeom prst="line">
            <a:avLst/>
          </a:prstGeom>
          <a:noFill/>
          <a:ln w="27940">
            <a:solidFill>
              <a:srgbClr val="67C5DA"/>
            </a:solidFill>
            <a:prstDash val="dash"/>
            <a:tailEnd type="triangle"/>
          </a:ln>
        </p:spPr>
      </p:sp>
      <p:sp>
        <p:nvSpPr>
          <p:cNvPr id="23" name="Shape 21"/>
          <p:cNvSpPr/>
          <p:nvPr/>
        </p:nvSpPr>
        <p:spPr>
          <a:xfrm>
            <a:off x="10113264" y="3081528"/>
            <a:ext cx="512064" cy="512064"/>
          </a:xfrm>
          <a:prstGeom prst="ellipse">
            <a:avLst/>
          </a:prstGeom>
          <a:solidFill>
            <a:srgbClr val="F1B84B"/>
          </a:solidFill>
          <a:ln w="12700">
            <a:solidFill>
              <a:srgbClr val="F1B84B"/>
            </a:solidFill>
            <a:prstDash val="solid"/>
          </a:ln>
        </p:spPr>
      </p:sp>
      <p:sp>
        <p:nvSpPr>
          <p:cNvPr id="24" name="Text 22"/>
          <p:cNvSpPr/>
          <p:nvPr/>
        </p:nvSpPr>
        <p:spPr>
          <a:xfrm>
            <a:off x="10113264" y="3118104"/>
            <a:ext cx="512064" cy="438912"/>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25" name="Text 23"/>
          <p:cNvSpPr/>
          <p:nvPr/>
        </p:nvSpPr>
        <p:spPr>
          <a:xfrm>
            <a:off x="7498080" y="5532120"/>
            <a:ext cx="3931920" cy="310896"/>
          </a:xfrm>
          <a:prstGeom prst="rect">
            <a:avLst/>
          </a:prstGeom>
          <a:noFill/>
          <a:ln/>
        </p:spPr>
        <p:txBody>
          <a:bodyPr wrap="square" lIns="0" tIns="0" rIns="0" bIns="0" rtlCol="0" anchor="ctr"/>
          <a:lstStyle/>
          <a:p>
            <a:pPr algn="ctr" indent="0" marL="0">
              <a:buNone/>
            </a:pPr>
            <a:r>
              <a:rPr lang="en-US" sz="1350" b="1" dirty="0">
                <a:solidFill>
                  <a:srgbClr val="DCE8F6"/>
                </a:solidFill>
              </a:rPr>
              <a:t>Invisible coupling</a:t>
            </a:r>
            <a:endParaRPr lang="en-US" sz="1350" dirty="0"/>
          </a:p>
        </p:txBody>
      </p:sp>
      <p:sp>
        <p:nvSpPr>
          <p:cNvPr id="26" name="Text 24"/>
          <p:cNvSpPr/>
          <p:nvPr/>
        </p:nvSpPr>
        <p:spPr>
          <a:xfrm>
            <a:off x="7479792" y="5870448"/>
            <a:ext cx="3977640" cy="219456"/>
          </a:xfrm>
          <a:prstGeom prst="rect">
            <a:avLst/>
          </a:prstGeom>
          <a:noFill/>
          <a:ln/>
        </p:spPr>
        <p:txBody>
          <a:bodyPr wrap="square" lIns="0" tIns="0" rIns="0" bIns="0" rtlCol="0" anchor="ctr"/>
          <a:lstStyle/>
          <a:p>
            <a:pPr algn="ctr" indent="0" marL="0">
              <a:buNone/>
            </a:pPr>
            <a:r>
              <a:rPr lang="en-US" sz="1080" dirty="0">
                <a:solidFill>
                  <a:srgbClr val="AFC5DF"/>
                </a:solidFill>
              </a:rPr>
              <a:t>surfaced before coding starts</a:t>
            </a:r>
            <a:endParaRPr lang="en-US" sz="10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0789920" cy="420624"/>
          </a:xfrm>
          <a:prstGeom prst="rect">
            <a:avLst/>
          </a:prstGeom>
          <a:noFill/>
          <a:ln/>
        </p:spPr>
        <p:txBody>
          <a:bodyPr wrap="square" lIns="0" tIns="0" rIns="0" bIns="0" rtlCol="0" anchor="ctr">
            <a:normAutofit/>
          </a:bodyPr>
          <a:lstStyle/>
          <a:p>
            <a:pPr indent="0" marL="0">
              <a:buNone/>
            </a:pPr>
            <a:r>
              <a:rPr lang="en-US" sz="2800" b="1" dirty="0">
                <a:solidFill>
                  <a:srgbClr val="1F2A5A"/>
                </a:solidFill>
                <a:latin typeface="Aptos Display" pitchFamily="34" charset="0"/>
                <a:ea typeface="Aptos Display" pitchFamily="34" charset="-122"/>
                <a:cs typeface="Aptos Display" pitchFamily="34" charset="-120"/>
              </a:rPr>
              <a:t>How ChangeGuard works</a:t>
            </a:r>
            <a:endParaRPr lang="en-US" sz="2800" dirty="0"/>
          </a:p>
        </p:txBody>
      </p:sp>
      <p:sp>
        <p:nvSpPr>
          <p:cNvPr id="3" name="Text 1"/>
          <p:cNvSpPr/>
          <p:nvPr/>
        </p:nvSpPr>
        <p:spPr>
          <a:xfrm>
            <a:off x="585216" y="868680"/>
            <a:ext cx="10424160" cy="292608"/>
          </a:xfrm>
          <a:prstGeom prst="rect">
            <a:avLst/>
          </a:prstGeom>
          <a:noFill/>
          <a:ln/>
        </p:spPr>
        <p:txBody>
          <a:bodyPr wrap="square" lIns="0" tIns="0" rIns="0" bIns="0" rtlCol="0" anchor="ctr">
            <a:normAutofit/>
          </a:bodyPr>
          <a:lstStyle/>
          <a:p>
            <a:pPr indent="0" marL="0">
              <a:buNone/>
            </a:pPr>
            <a:r>
              <a:rPr lang="en-US" sz="1300" dirty="0">
                <a:solidFill>
                  <a:srgbClr val="677281"/>
                </a:solidFill>
              </a:rPr>
              <a:t>Four focused stages turn raw change requests into actionable coordination signals.</a:t>
            </a:r>
            <a:endParaRPr lang="en-US" sz="1300" dirty="0"/>
          </a:p>
        </p:txBody>
      </p:sp>
      <p:sp>
        <p:nvSpPr>
          <p:cNvPr id="4" name="Shape 2"/>
          <p:cNvSpPr/>
          <p:nvPr/>
        </p:nvSpPr>
        <p:spPr>
          <a:xfrm>
            <a:off x="640080" y="1508760"/>
            <a:ext cx="2240280" cy="3429000"/>
          </a:xfrm>
          <a:prstGeom prst="roundRect">
            <a:avLst>
              <a:gd name="adj" fmla="val 3265"/>
            </a:avLst>
          </a:prstGeom>
          <a:solidFill>
            <a:srgbClr val="FFFFFF"/>
          </a:solidFill>
          <a:ln w="12700">
            <a:solidFill>
              <a:srgbClr val="D5DDE5"/>
            </a:solidFill>
            <a:prstDash val="solid"/>
          </a:ln>
          <a:effectLst>
            <a:outerShdw sx="100000" sy="100000" kx="0" ky="0" algn="bl" rotWithShape="0" blurRad="12700" dist="50800" dir="2700000">
              <a:srgbClr val="A7B0BC">
                <a:alpha val="10000"/>
              </a:srgbClr>
            </a:outerShdw>
          </a:effectLst>
        </p:spPr>
        <p:txBody>
          <a:bodyPr/>
          <a:p/>
        </p:txBody>
      </p:sp>
      <p:sp>
        <p:nvSpPr>
          <p:cNvPr id="5" name="Shape 3"/>
          <p:cNvSpPr/>
          <p:nvPr/>
        </p:nvSpPr>
        <p:spPr>
          <a:xfrm>
            <a:off x="822960" y="1783080"/>
            <a:ext cx="438912" cy="438912"/>
          </a:xfrm>
          <a:prstGeom prst="ellipse">
            <a:avLst/>
          </a:prstGeom>
          <a:solidFill>
            <a:srgbClr val="0E7490"/>
          </a:solidFill>
          <a:ln w="12700">
            <a:solidFill>
              <a:srgbClr val="0E7490"/>
            </a:solidFill>
            <a:prstDash val="solid"/>
          </a:ln>
        </p:spPr>
        <p:txBody>
          <a:bodyPr/>
          <a:p/>
        </p:txBody>
      </p:sp>
      <p:sp>
        <p:nvSpPr>
          <p:cNvPr id="6" name="Text 4"/>
          <p:cNvSpPr/>
          <p:nvPr/>
        </p:nvSpPr>
        <p:spPr>
          <a:xfrm>
            <a:off x="822960" y="1819656"/>
            <a:ext cx="438912" cy="36576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5"/>
          <p:cNvSpPr/>
          <p:nvPr/>
        </p:nvSpPr>
        <p:spPr>
          <a:xfrm>
            <a:off x="822960" y="2359152"/>
            <a:ext cx="1828800" cy="310896"/>
          </a:xfrm>
          <a:prstGeom prst="rect">
            <a:avLst/>
          </a:prstGeom>
          <a:noFill/>
          <a:ln/>
        </p:spPr>
        <p:txBody>
          <a:bodyPr wrap="square" lIns="0" tIns="0" rIns="0" bIns="0" rtlCol="0" anchor="ctr"/>
          <a:lstStyle/>
          <a:p>
            <a:pPr indent="0" marL="0">
              <a:buNone/>
            </a:pPr>
            <a:r>
              <a:rPr lang="en-US" sz="1700" b="1" dirty="0">
                <a:solidFill>
                  <a:srgbClr val="1F2A5A"/>
                </a:solidFill>
              </a:rPr>
              <a:t>Normalize</a:t>
            </a:r>
            <a:endParaRPr lang="en-US" sz="1700" dirty="0"/>
          </a:p>
        </p:txBody>
      </p:sp>
      <p:sp>
        <p:nvSpPr>
          <p:cNvPr id="8" name="Text 6"/>
          <p:cNvSpPr/>
          <p:nvPr/>
        </p:nvSpPr>
        <p:spPr>
          <a:xfrm>
            <a:off x="822960" y="2743200"/>
            <a:ext cx="1828800" cy="384048"/>
          </a:xfrm>
          <a:prstGeom prst="rect">
            <a:avLst/>
          </a:prstGeom>
          <a:noFill/>
          <a:ln/>
        </p:spPr>
        <p:txBody>
          <a:bodyPr wrap="square" lIns="0" tIns="0" rIns="0" bIns="0" rtlCol="0" anchor="ctr">
            <a:normAutofit/>
          </a:bodyPr>
          <a:lstStyle/>
          <a:p>
            <a:pPr indent="0" marL="0">
              <a:buNone/>
            </a:pPr>
            <a:r>
              <a:rPr lang="en-US" sz="1020" b="1" dirty="0">
                <a:solidFill>
                  <a:srgbClr val="0E7490"/>
                </a:solidFill>
              </a:rPr>
              <a:t>Ticket Creator Agent</a:t>
            </a:r>
            <a:endParaRPr lang="en-US" sz="1020" dirty="0"/>
          </a:p>
        </p:txBody>
      </p:sp>
      <p:sp>
        <p:nvSpPr>
          <p:cNvPr id="9" name="Text 7"/>
          <p:cNvSpPr/>
          <p:nvPr/>
        </p:nvSpPr>
        <p:spPr>
          <a:xfrm>
            <a:off x="822960" y="3364992"/>
            <a:ext cx="1828800" cy="685800"/>
          </a:xfrm>
          <a:prstGeom prst="rect">
            <a:avLst/>
          </a:prstGeom>
          <a:noFill/>
          <a:ln/>
        </p:spPr>
        <p:txBody>
          <a:bodyPr wrap="square" lIns="0" tIns="0" rIns="0" bIns="0" rtlCol="0" anchor="ctr">
            <a:normAutofit/>
          </a:bodyPr>
          <a:lstStyle/>
          <a:p>
            <a:pPr indent="0" marL="0">
              <a:buNone/>
            </a:pPr>
            <a:r>
              <a:rPr lang="en-US" sz="1180" dirty="0">
                <a:solidFill>
                  <a:srgbClr val="26313D"/>
                </a:solidFill>
              </a:rPr>
              <a:t>Docs → structured ticket</a:t>
            </a:r>
            <a:endParaRPr lang="en-US" sz="1180" dirty="0"/>
          </a:p>
        </p:txBody>
      </p:sp>
      <p:sp>
        <p:nvSpPr>
          <p:cNvPr id="10" name="Shape 8"/>
          <p:cNvSpPr/>
          <p:nvPr/>
        </p:nvSpPr>
        <p:spPr>
          <a:xfrm>
            <a:off x="2944368" y="3154680"/>
            <a:ext cx="502920" cy="0"/>
          </a:xfrm>
          <a:prstGeom prst="line">
            <a:avLst/>
          </a:prstGeom>
          <a:noFill/>
          <a:ln w="27940">
            <a:solidFill>
              <a:srgbClr val="67C5DA"/>
            </a:solidFill>
            <a:prstDash val="solid"/>
            <a:headEnd type="none"/>
            <a:tailEnd type="triangle"/>
          </a:ln>
        </p:spPr>
        <p:txBody>
          <a:bodyPr/>
          <a:p/>
        </p:txBody>
      </p:sp>
      <p:sp>
        <p:nvSpPr>
          <p:cNvPr id="11" name="Shape 9"/>
          <p:cNvSpPr/>
          <p:nvPr/>
        </p:nvSpPr>
        <p:spPr>
          <a:xfrm>
            <a:off x="3520440" y="1508760"/>
            <a:ext cx="2240280" cy="3429000"/>
          </a:xfrm>
          <a:prstGeom prst="roundRect">
            <a:avLst>
              <a:gd name="adj" fmla="val 3265"/>
            </a:avLst>
          </a:prstGeom>
          <a:solidFill>
            <a:srgbClr val="FFFFFF"/>
          </a:solidFill>
          <a:ln w="12700">
            <a:solidFill>
              <a:srgbClr val="D5DDE5"/>
            </a:solidFill>
            <a:prstDash val="solid"/>
          </a:ln>
          <a:effectLst>
            <a:outerShdw sx="100000" sy="100000" kx="0" ky="0" algn="bl" rotWithShape="0" blurRad="12700" dist="50800" dir="2700000">
              <a:srgbClr val="A7B0BC">
                <a:alpha val="10000"/>
              </a:srgbClr>
            </a:outerShdw>
          </a:effectLst>
        </p:spPr>
        <p:txBody>
          <a:bodyPr/>
          <a:p/>
        </p:txBody>
      </p:sp>
      <p:sp>
        <p:nvSpPr>
          <p:cNvPr id="12" name="Shape 10"/>
          <p:cNvSpPr/>
          <p:nvPr/>
        </p:nvSpPr>
        <p:spPr>
          <a:xfrm>
            <a:off x="3703320" y="1783080"/>
            <a:ext cx="438912" cy="438912"/>
          </a:xfrm>
          <a:prstGeom prst="ellipse">
            <a:avLst/>
          </a:prstGeom>
          <a:solidFill>
            <a:srgbClr val="137B8E"/>
          </a:solidFill>
          <a:ln w="12700">
            <a:solidFill>
              <a:srgbClr val="137B8E"/>
            </a:solidFill>
            <a:prstDash val="solid"/>
          </a:ln>
        </p:spPr>
        <p:txBody>
          <a:bodyPr/>
          <a:p/>
        </p:txBody>
      </p:sp>
      <p:sp>
        <p:nvSpPr>
          <p:cNvPr id="13" name="Text 11"/>
          <p:cNvSpPr/>
          <p:nvPr/>
        </p:nvSpPr>
        <p:spPr>
          <a:xfrm>
            <a:off x="3703320" y="1819656"/>
            <a:ext cx="438912" cy="36576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4" name="Text 12"/>
          <p:cNvSpPr/>
          <p:nvPr/>
        </p:nvSpPr>
        <p:spPr>
          <a:xfrm>
            <a:off x="3703320" y="2359152"/>
            <a:ext cx="1828800" cy="310896"/>
          </a:xfrm>
          <a:prstGeom prst="rect">
            <a:avLst/>
          </a:prstGeom>
          <a:noFill/>
          <a:ln/>
        </p:spPr>
        <p:txBody>
          <a:bodyPr wrap="square" lIns="0" tIns="0" rIns="0" bIns="0" rtlCol="0" anchor="ctr"/>
          <a:lstStyle/>
          <a:p>
            <a:pPr indent="0" marL="0">
              <a:buNone/>
            </a:pPr>
            <a:r>
              <a:rPr lang="en-US" sz="1700" b="1" dirty="0">
                <a:solidFill>
                  <a:srgbClr val="1F2A5A"/>
                </a:solidFill>
              </a:rPr>
              <a:t>Repo Relevance</a:t>
            </a:r>
            <a:endParaRPr lang="en-US" sz="1700" dirty="0"/>
          </a:p>
        </p:txBody>
      </p:sp>
      <p:sp>
        <p:nvSpPr>
          <p:cNvPr id="15" name="Text 13"/>
          <p:cNvSpPr/>
          <p:nvPr/>
        </p:nvSpPr>
        <p:spPr>
          <a:xfrm>
            <a:off x="3703320" y="2743200"/>
            <a:ext cx="1828800" cy="384048"/>
          </a:xfrm>
          <a:prstGeom prst="rect">
            <a:avLst/>
          </a:prstGeom>
          <a:noFill/>
          <a:ln/>
        </p:spPr>
        <p:txBody>
          <a:bodyPr wrap="square" lIns="0" tIns="0" rIns="0" bIns="0" rtlCol="0" anchor="ctr">
            <a:normAutofit/>
          </a:bodyPr>
          <a:lstStyle/>
          <a:p>
            <a:pPr indent="0" marL="0">
              <a:buNone/>
            </a:pPr>
            <a:r>
              <a:rPr lang="en-US" sz="1020" b="1" dirty="0">
                <a:solidFill>
                  <a:srgbClr val="0E7490"/>
                </a:solidFill>
              </a:rPr>
              <a:t>Repo Analyst Agent</a:t>
            </a:r>
            <a:endParaRPr lang="en-US" sz="1020" dirty="0"/>
          </a:p>
        </p:txBody>
      </p:sp>
      <p:sp>
        <p:nvSpPr>
          <p:cNvPr id="16" name="Text 14"/>
          <p:cNvSpPr/>
          <p:nvPr/>
        </p:nvSpPr>
        <p:spPr>
          <a:xfrm>
            <a:off x="3703320" y="3364992"/>
            <a:ext cx="1828800" cy="685800"/>
          </a:xfrm>
          <a:prstGeom prst="rect">
            <a:avLst/>
          </a:prstGeom>
          <a:noFill/>
          <a:ln/>
        </p:spPr>
        <p:txBody>
          <a:bodyPr wrap="square" lIns="0" tIns="0" rIns="0" bIns="0" rtlCol="0" anchor="ctr">
            <a:normAutofit/>
          </a:bodyPr>
          <a:lstStyle/>
          <a:p>
            <a:pPr indent="0" marL="0" algn="ctr">
              <a:buNone/>
            </a:pPr>
            <a:r>
              <a:rPr sz="1300">
                <a:solidFill>
                  <a:srgbClr val="26313D"/>
                </a:solidFill>
              </a:rPr>
              <a:t>Maps ticket intent to the actual codebase — predicting impacted files, modules, and symbols with confidence.</a:t>
            </a:r>
            <a:endParaRPr lang="en-US" sz="1180" dirty="0"/>
          </a:p>
        </p:txBody>
      </p:sp>
      <p:sp>
        <p:nvSpPr>
          <p:cNvPr id="17" name="Shape 15"/>
          <p:cNvSpPr/>
          <p:nvPr/>
        </p:nvSpPr>
        <p:spPr>
          <a:xfrm>
            <a:off x="5824728" y="3154680"/>
            <a:ext cx="502920" cy="0"/>
          </a:xfrm>
          <a:prstGeom prst="line">
            <a:avLst/>
          </a:prstGeom>
          <a:noFill/>
          <a:ln w="27940">
            <a:solidFill>
              <a:srgbClr val="67C5DA"/>
            </a:solidFill>
            <a:prstDash val="solid"/>
            <a:headEnd type="none"/>
            <a:tailEnd type="triangle"/>
          </a:ln>
        </p:spPr>
      </p:sp>
      <p:sp>
        <p:nvSpPr>
          <p:cNvPr id="18" name="Shape 16"/>
          <p:cNvSpPr/>
          <p:nvPr/>
        </p:nvSpPr>
        <p:spPr>
          <a:xfrm>
            <a:off x="6400800" y="1508760"/>
            <a:ext cx="2240280" cy="3429000"/>
          </a:xfrm>
          <a:prstGeom prst="roundRect">
            <a:avLst>
              <a:gd name="adj" fmla="val 3265"/>
            </a:avLst>
          </a:prstGeom>
          <a:solidFill>
            <a:srgbClr val="FFFFFF"/>
          </a:solidFill>
          <a:ln w="12700">
            <a:solidFill>
              <a:srgbClr val="D5DDE5"/>
            </a:solidFill>
            <a:prstDash val="solid"/>
          </a:ln>
          <a:effectLst>
            <a:outerShdw sx="100000" sy="100000" kx="0" ky="0" algn="bl" rotWithShape="0" blurRad="12700" dist="50800" dir="2700000">
              <a:srgbClr val="A7B0BC">
                <a:alpha val="10000"/>
              </a:srgbClr>
            </a:outerShdw>
          </a:effectLst>
        </p:spPr>
      </p:sp>
      <p:sp>
        <p:nvSpPr>
          <p:cNvPr id="19" name="Shape 17"/>
          <p:cNvSpPr/>
          <p:nvPr/>
        </p:nvSpPr>
        <p:spPr>
          <a:xfrm>
            <a:off x="6583680" y="1783080"/>
            <a:ext cx="438912" cy="438912"/>
          </a:xfrm>
          <a:prstGeom prst="ellipse">
            <a:avLst/>
          </a:prstGeom>
          <a:solidFill>
            <a:srgbClr val="186C87"/>
          </a:solidFill>
          <a:ln w="12700">
            <a:solidFill>
              <a:srgbClr val="186C87"/>
            </a:solidFill>
            <a:prstDash val="solid"/>
          </a:ln>
        </p:spPr>
      </p:sp>
      <p:sp>
        <p:nvSpPr>
          <p:cNvPr id="20" name="Text 18"/>
          <p:cNvSpPr/>
          <p:nvPr/>
        </p:nvSpPr>
        <p:spPr>
          <a:xfrm>
            <a:off x="6583680" y="1819656"/>
            <a:ext cx="438912" cy="36576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1" name="Text 19"/>
          <p:cNvSpPr/>
          <p:nvPr/>
        </p:nvSpPr>
        <p:spPr>
          <a:xfrm>
            <a:off x="6583680" y="2359152"/>
            <a:ext cx="1828800" cy="310896"/>
          </a:xfrm>
          <a:prstGeom prst="rect">
            <a:avLst/>
          </a:prstGeom>
          <a:noFill/>
          <a:ln/>
        </p:spPr>
        <p:txBody>
          <a:bodyPr wrap="square" lIns="0" tIns="0" rIns="0" bIns="0" rtlCol="0" anchor="ctr"/>
          <a:lstStyle/>
          <a:p>
            <a:pPr indent="0" marL="0">
              <a:buNone/>
            </a:pPr>
            <a:r>
              <a:rPr lang="en-US" sz="1700" b="1" dirty="0">
                <a:solidFill>
                  <a:srgbClr val="1F2A5A"/>
                </a:solidFill>
              </a:rPr>
              <a:t>Pair Analysis</a:t>
            </a:r>
            <a:endParaRPr lang="en-US" sz="1700" dirty="0"/>
          </a:p>
        </p:txBody>
      </p:sp>
      <p:sp>
        <p:nvSpPr>
          <p:cNvPr id="22" name="Text 20"/>
          <p:cNvSpPr/>
          <p:nvPr/>
        </p:nvSpPr>
        <p:spPr>
          <a:xfrm>
            <a:off x="6583680" y="2743200"/>
            <a:ext cx="1828800" cy="384048"/>
          </a:xfrm>
          <a:prstGeom prst="rect">
            <a:avLst/>
          </a:prstGeom>
          <a:noFill/>
          <a:ln/>
        </p:spPr>
        <p:txBody>
          <a:bodyPr wrap="square" lIns="0" tIns="0" rIns="0" bIns="0" rtlCol="0" anchor="ctr">
            <a:normAutofit/>
          </a:bodyPr>
          <a:lstStyle/>
          <a:p>
            <a:pPr indent="0" marL="0">
              <a:buNone/>
            </a:pPr>
            <a:r>
              <a:rPr lang="en-US" sz="1020" b="1" dirty="0">
                <a:solidFill>
                  <a:srgbClr val="0E7490"/>
                </a:solidFill>
              </a:rPr>
              <a:t>Relationship Analyst</a:t>
            </a:r>
            <a:endParaRPr lang="en-US" sz="1020" dirty="0"/>
          </a:p>
        </p:txBody>
      </p:sp>
      <p:sp>
        <p:nvSpPr>
          <p:cNvPr id="23" name="Text 21"/>
          <p:cNvSpPr/>
          <p:nvPr/>
        </p:nvSpPr>
        <p:spPr>
          <a:xfrm>
            <a:off x="6583680" y="3364992"/>
            <a:ext cx="1828800" cy="685800"/>
          </a:xfrm>
          <a:prstGeom prst="rect">
            <a:avLst/>
          </a:prstGeom>
          <a:noFill/>
          <a:ln/>
        </p:spPr>
        <p:txBody>
          <a:bodyPr wrap="square" lIns="0" tIns="0" rIns="0" bIns="0" rtlCol="0" anchor="ctr">
            <a:normAutofit/>
          </a:bodyPr>
          <a:lstStyle/>
          <a:p>
            <a:pPr indent="0" marL="0">
              <a:buNone/>
            </a:pPr>
            <a:r>
              <a:rPr lang="en-US" sz="1180" dirty="0">
                <a:solidFill>
                  <a:srgbClr val="26313D"/>
                </a:solidFill>
              </a:rPr>
              <a:t>Dependency + collision per ticket pair</a:t>
            </a:r>
            <a:endParaRPr lang="en-US" sz="1180" dirty="0"/>
          </a:p>
        </p:txBody>
      </p:sp>
      <p:sp>
        <p:nvSpPr>
          <p:cNvPr id="24" name="Shape 22"/>
          <p:cNvSpPr/>
          <p:nvPr/>
        </p:nvSpPr>
        <p:spPr>
          <a:xfrm>
            <a:off x="8705088" y="3154680"/>
            <a:ext cx="502920" cy="0"/>
          </a:xfrm>
          <a:prstGeom prst="line">
            <a:avLst/>
          </a:prstGeom>
          <a:noFill/>
          <a:ln w="27940">
            <a:solidFill>
              <a:srgbClr val="67C5DA"/>
            </a:solidFill>
            <a:prstDash val="solid"/>
            <a:headEnd type="none"/>
            <a:tailEnd type="triangle"/>
          </a:ln>
        </p:spPr>
      </p:sp>
      <p:sp>
        <p:nvSpPr>
          <p:cNvPr id="25" name="Shape 23"/>
          <p:cNvSpPr/>
          <p:nvPr/>
        </p:nvSpPr>
        <p:spPr>
          <a:xfrm>
            <a:off x="9281160" y="1508760"/>
            <a:ext cx="2240280" cy="3429000"/>
          </a:xfrm>
          <a:prstGeom prst="roundRect">
            <a:avLst>
              <a:gd name="adj" fmla="val 3265"/>
            </a:avLst>
          </a:prstGeom>
          <a:solidFill>
            <a:srgbClr val="FFFFFF"/>
          </a:solidFill>
          <a:ln w="12700">
            <a:solidFill>
              <a:srgbClr val="D5DDE5"/>
            </a:solidFill>
            <a:prstDash val="solid"/>
          </a:ln>
          <a:effectLst>
            <a:outerShdw sx="100000" sy="100000" kx="0" ky="0" algn="bl" rotWithShape="0" blurRad="12700" dist="50800" dir="2700000">
              <a:srgbClr val="A7B0BC">
                <a:alpha val="10000"/>
              </a:srgbClr>
            </a:outerShdw>
          </a:effectLst>
        </p:spPr>
      </p:sp>
      <p:sp>
        <p:nvSpPr>
          <p:cNvPr id="26" name="Shape 24"/>
          <p:cNvSpPr/>
          <p:nvPr/>
        </p:nvSpPr>
        <p:spPr>
          <a:xfrm>
            <a:off x="9464040" y="1783080"/>
            <a:ext cx="438912" cy="438912"/>
          </a:xfrm>
          <a:prstGeom prst="ellipse">
            <a:avLst/>
          </a:prstGeom>
          <a:solidFill>
            <a:srgbClr val="1F2A5A"/>
          </a:solidFill>
          <a:ln w="12700">
            <a:solidFill>
              <a:srgbClr val="1F2A5A"/>
            </a:solidFill>
            <a:prstDash val="solid"/>
          </a:ln>
        </p:spPr>
      </p:sp>
      <p:sp>
        <p:nvSpPr>
          <p:cNvPr id="27" name="Text 25"/>
          <p:cNvSpPr/>
          <p:nvPr/>
        </p:nvSpPr>
        <p:spPr>
          <a:xfrm>
            <a:off x="9464040" y="1819656"/>
            <a:ext cx="438912" cy="365760"/>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8" name="Text 26"/>
          <p:cNvSpPr/>
          <p:nvPr/>
        </p:nvSpPr>
        <p:spPr>
          <a:xfrm>
            <a:off x="9464040" y="2359152"/>
            <a:ext cx="1828800" cy="310896"/>
          </a:xfrm>
          <a:prstGeom prst="rect">
            <a:avLst/>
          </a:prstGeom>
          <a:noFill/>
          <a:ln/>
        </p:spPr>
        <p:txBody>
          <a:bodyPr wrap="square" lIns="0" tIns="0" rIns="0" bIns="0" rtlCol="0" anchor="ctr"/>
          <a:lstStyle/>
          <a:p>
            <a:pPr indent="0" marL="0">
              <a:buNone/>
            </a:pPr>
            <a:r>
              <a:rPr lang="en-US" sz="1700" b="1" dirty="0">
                <a:solidFill>
                  <a:srgbClr val="1F2A5A"/>
                </a:solidFill>
              </a:rPr>
              <a:t>Graph + Brief</a:t>
            </a:r>
            <a:endParaRPr lang="en-US" sz="1700" dirty="0"/>
          </a:p>
        </p:txBody>
      </p:sp>
      <p:sp>
        <p:nvSpPr>
          <p:cNvPr id="29" name="Text 27"/>
          <p:cNvSpPr/>
          <p:nvPr/>
        </p:nvSpPr>
        <p:spPr>
          <a:xfrm>
            <a:off x="9464040" y="2743200"/>
            <a:ext cx="1828800" cy="384048"/>
          </a:xfrm>
          <a:prstGeom prst="rect">
            <a:avLst/>
          </a:prstGeom>
          <a:noFill/>
          <a:ln/>
        </p:spPr>
        <p:txBody>
          <a:bodyPr wrap="square" lIns="0" tIns="0" rIns="0" bIns="0" rtlCol="0" anchor="ctr">
            <a:normAutofit/>
          </a:bodyPr>
          <a:lstStyle/>
          <a:p>
            <a:pPr indent="0" marL="0">
              <a:buNone/>
            </a:pPr>
            <a:r>
              <a:rPr lang="en-US" sz="1020" b="1" dirty="0">
                <a:solidFill>
                  <a:srgbClr val="0E7490"/>
                </a:solidFill>
              </a:rPr>
              <a:t>Deterministic build + Report Agent</a:t>
            </a:r>
            <a:endParaRPr lang="en-US" sz="1020" dirty="0"/>
          </a:p>
        </p:txBody>
      </p:sp>
      <p:sp>
        <p:nvSpPr>
          <p:cNvPr id="30" name="Text 28"/>
          <p:cNvSpPr/>
          <p:nvPr/>
        </p:nvSpPr>
        <p:spPr>
          <a:xfrm>
            <a:off x="9464040" y="3364992"/>
            <a:ext cx="1828800" cy="685800"/>
          </a:xfrm>
          <a:prstGeom prst="rect">
            <a:avLst/>
          </a:prstGeom>
          <a:noFill/>
          <a:ln/>
        </p:spPr>
        <p:txBody>
          <a:bodyPr wrap="square" lIns="0" tIns="0" rIns="0" bIns="0" rtlCol="0" anchor="ctr">
            <a:normAutofit/>
          </a:bodyPr>
          <a:lstStyle/>
          <a:p>
            <a:pPr indent="0" marL="0">
              <a:buNone/>
            </a:pPr>
            <a:r>
              <a:rPr lang="en-US" sz="1180" dirty="0">
                <a:solidFill>
                  <a:srgbClr val="26313D"/>
                </a:solidFill>
              </a:rPr>
              <a:t>Mermaid graph + developer brief</a:t>
            </a:r>
            <a:endParaRPr lang="en-US" sz="1180" dirty="0"/>
          </a:p>
        </p:txBody>
      </p:sp>
      <p:sp>
        <p:nvSpPr>
          <p:cNvPr id="31" name="Shape 29"/>
          <p:cNvSpPr/>
          <p:nvPr/>
        </p:nvSpPr>
        <p:spPr>
          <a:xfrm>
            <a:off x="960120" y="5349240"/>
            <a:ext cx="4663440" cy="758952"/>
          </a:xfrm>
          <a:prstGeom prst="roundRect">
            <a:avLst>
              <a:gd name="adj" fmla="val 9639"/>
            </a:avLst>
          </a:prstGeom>
          <a:solidFill>
            <a:srgbClr val="EAF6F8"/>
          </a:solidFill>
          <a:ln w="12700">
            <a:solidFill>
              <a:srgbClr val="EAF6F8"/>
            </a:solidFill>
            <a:prstDash val="solid"/>
          </a:ln>
        </p:spPr>
      </p:sp>
      <p:sp>
        <p:nvSpPr>
          <p:cNvPr id="32" name="Text 30"/>
          <p:cNvSpPr/>
          <p:nvPr/>
        </p:nvSpPr>
        <p:spPr>
          <a:xfrm>
            <a:off x="1188720" y="5541264"/>
            <a:ext cx="1965960" cy="228600"/>
          </a:xfrm>
          <a:prstGeom prst="rect">
            <a:avLst/>
          </a:prstGeom>
          <a:noFill/>
          <a:ln/>
        </p:spPr>
        <p:txBody>
          <a:bodyPr wrap="square" lIns="0" tIns="0" rIns="0" bIns="0" rtlCol="0" anchor="ctr"/>
          <a:lstStyle/>
          <a:p>
            <a:pPr indent="0" marL="0">
              <a:buNone/>
            </a:pPr>
            <a:r>
              <a:rPr lang="en-US" sz="1250" b="1" dirty="0">
                <a:solidFill>
                  <a:srgbClr val="1F2A5A"/>
                </a:solidFill>
              </a:rPr>
              <a:t>Dependency = sequencing risk</a:t>
            </a:r>
            <a:endParaRPr lang="en-US" sz="1250" dirty="0"/>
          </a:p>
        </p:txBody>
      </p:sp>
      <p:sp>
        <p:nvSpPr>
          <p:cNvPr id="33" name="Text 31"/>
          <p:cNvSpPr/>
          <p:nvPr/>
        </p:nvSpPr>
        <p:spPr>
          <a:xfrm>
            <a:off x="3246120" y="5559552"/>
            <a:ext cx="2011680" cy="201168"/>
          </a:xfrm>
          <a:prstGeom prst="rect">
            <a:avLst/>
          </a:prstGeom>
          <a:noFill/>
          <a:ln/>
        </p:spPr>
        <p:txBody>
          <a:bodyPr wrap="square" lIns="0" tIns="0" rIns="0" bIns="0" rtlCol="0" anchor="ctr"/>
          <a:lstStyle/>
          <a:p>
            <a:pPr indent="0" marL="0">
              <a:buNone/>
            </a:pPr>
            <a:r>
              <a:rPr lang="en-US" sz="1080" dirty="0">
                <a:solidFill>
                  <a:srgbClr val="677281"/>
                </a:solidFill>
              </a:rPr>
              <a:t>A must happen before B</a:t>
            </a:r>
            <a:endParaRPr lang="en-US" sz="1080" dirty="0"/>
          </a:p>
        </p:txBody>
      </p:sp>
      <p:sp>
        <p:nvSpPr>
          <p:cNvPr id="34" name="Shape 32"/>
          <p:cNvSpPr/>
          <p:nvPr/>
        </p:nvSpPr>
        <p:spPr>
          <a:xfrm>
            <a:off x="6583680" y="5349240"/>
            <a:ext cx="4663440" cy="758952"/>
          </a:xfrm>
          <a:prstGeom prst="roundRect">
            <a:avLst>
              <a:gd name="adj" fmla="val 9639"/>
            </a:avLst>
          </a:prstGeom>
          <a:solidFill>
            <a:srgbClr val="FFF4F4"/>
          </a:solidFill>
          <a:ln w="12700">
            <a:solidFill>
              <a:srgbClr val="FFF4F4"/>
            </a:solidFill>
            <a:prstDash val="solid"/>
          </a:ln>
        </p:spPr>
      </p:sp>
      <p:sp>
        <p:nvSpPr>
          <p:cNvPr id="35" name="Text 33"/>
          <p:cNvSpPr/>
          <p:nvPr/>
        </p:nvSpPr>
        <p:spPr>
          <a:xfrm>
            <a:off x="6812280" y="5541264"/>
            <a:ext cx="2057400" cy="228600"/>
          </a:xfrm>
          <a:prstGeom prst="rect">
            <a:avLst/>
          </a:prstGeom>
          <a:noFill/>
          <a:ln/>
        </p:spPr>
        <p:txBody>
          <a:bodyPr wrap="square" lIns="0" tIns="0" rIns="0" bIns="0" rtlCol="0" anchor="ctr"/>
          <a:lstStyle/>
          <a:p>
            <a:pPr indent="0" marL="0">
              <a:buNone/>
            </a:pPr>
            <a:r>
              <a:rPr lang="en-US" sz="1250" b="1" dirty="0">
                <a:solidFill>
                  <a:srgbClr val="1F2A5A"/>
                </a:solidFill>
              </a:rPr>
              <a:t>Collision = coordination risk</a:t>
            </a:r>
            <a:endParaRPr lang="en-US" sz="1250" dirty="0"/>
          </a:p>
        </p:txBody>
      </p:sp>
      <p:sp>
        <p:nvSpPr>
          <p:cNvPr id="36" name="Text 34"/>
          <p:cNvSpPr/>
          <p:nvPr/>
        </p:nvSpPr>
        <p:spPr>
          <a:xfrm>
            <a:off x="8942832" y="5559552"/>
            <a:ext cx="1920240" cy="201168"/>
          </a:xfrm>
          <a:prstGeom prst="rect">
            <a:avLst/>
          </a:prstGeom>
          <a:noFill/>
          <a:ln/>
        </p:spPr>
        <p:txBody>
          <a:bodyPr wrap="square" lIns="0" tIns="0" rIns="0" bIns="0" rtlCol="0" anchor="ctr"/>
          <a:lstStyle/>
          <a:p>
            <a:pPr indent="0" marL="0">
              <a:buNone/>
            </a:pPr>
            <a:r>
              <a:rPr lang="en-US" sz="1080" dirty="0">
                <a:solidFill>
                  <a:srgbClr val="677281"/>
                </a:solidFill>
              </a:rPr>
              <a:t>Both touch the same code</a:t>
            </a:r>
            <a:endParaRPr lang="en-US" sz="1080" dirty="0"/>
          </a:p>
        </p:txBody>
      </p:sp>
      <p:sp>
        <p:nvSpPr>
          <p:cNvPr id="25" name="Slide Number Placeholder 0"/>
          <p:cNvSpPr>
            <a:spLocks noGrp="1"/>
          </p:cNvSpPr>
          <p:nvPr>
            <p:ph type="sldNum" sz="quarter" idx="4294967295"/>
          </p:nvPr>
        </p:nvSpPr>
        <p:spPr>
          <a:xfrm>
            <a:off x="11475720" y="6419088"/>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8B95A3"/>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10789920" cy="420624"/>
          </a:xfrm>
          <a:prstGeom prst="rect">
            <a:avLst/>
          </a:prstGeom>
          <a:noFill/>
          <a:ln/>
        </p:spPr>
        <p:txBody>
          <a:bodyPr wrap="square" lIns="0" tIns="0" rIns="0" bIns="0" rtlCol="0" anchor="ctr">
            <a:normAutofit/>
          </a:bodyPr>
          <a:lstStyle/>
          <a:p>
            <a:pPr indent="0" marL="0">
              <a:buNone/>
            </a:pPr>
            <a:r>
              <a:rPr lang="en-US" sz="2800" b="1" dirty="0">
                <a:solidFill>
                  <a:srgbClr val="1F2A5A"/>
                </a:solidFill>
                <a:latin typeface="Aptos Display" pitchFamily="34" charset="0"/>
                <a:ea typeface="Aptos Display" pitchFamily="34" charset="-122"/>
                <a:cs typeface="Aptos Display" pitchFamily="34" charset="-120"/>
              </a:rPr>
              <a:t>Why this is not just an LLM wrapper</a:t>
            </a:r>
            <a:endParaRPr lang="en-US" sz="2800" dirty="0"/>
          </a:p>
        </p:txBody>
      </p:sp>
      <p:sp>
        <p:nvSpPr>
          <p:cNvPr id="3" name="Text 1"/>
          <p:cNvSpPr/>
          <p:nvPr/>
        </p:nvSpPr>
        <p:spPr>
          <a:xfrm>
            <a:off x="585216" y="868680"/>
            <a:ext cx="10424160" cy="292608"/>
          </a:xfrm>
          <a:prstGeom prst="rect">
            <a:avLst/>
          </a:prstGeom>
          <a:noFill/>
          <a:ln/>
        </p:spPr>
        <p:txBody>
          <a:bodyPr wrap="square" lIns="0" tIns="0" rIns="0" bIns="0" rtlCol="0" anchor="ctr">
            <a:normAutofit/>
          </a:bodyPr>
          <a:lstStyle/>
          <a:p>
            <a:pPr indent="0" marL="0">
              <a:buNone/>
            </a:pPr>
            <a:r>
              <a:rPr lang="en-US" sz="1300" dirty="0">
                <a:solidFill>
                  <a:srgbClr val="677281"/>
                </a:solidFill>
              </a:rPr>
              <a:t>The LLM reasons only inside a controlled pipeline; correctness-critical parts stay deterministic.</a:t>
            </a:r>
            <a:endParaRPr lang="en-US" sz="1300" dirty="0"/>
          </a:p>
        </p:txBody>
      </p:sp>
      <p:sp>
        <p:nvSpPr>
          <p:cNvPr id="4" name="Shape 2"/>
          <p:cNvSpPr/>
          <p:nvPr/>
        </p:nvSpPr>
        <p:spPr>
          <a:xfrm>
            <a:off x="777240" y="1325880"/>
            <a:ext cx="10652760" cy="960120"/>
          </a:xfrm>
          <a:prstGeom prst="roundRect">
            <a:avLst>
              <a:gd name="adj" fmla="val 7619"/>
            </a:avLst>
          </a:prstGeom>
          <a:solidFill>
            <a:srgbClr val="1F2A5A"/>
          </a:solidFill>
          <a:ln w="12700">
            <a:solidFill>
              <a:srgbClr val="1F2A5A"/>
            </a:solidFill>
            <a:prstDash val="solid"/>
          </a:ln>
        </p:spPr>
      </p:sp>
      <p:sp>
        <p:nvSpPr>
          <p:cNvPr id="5" name="Text 3"/>
          <p:cNvSpPr/>
          <p:nvPr/>
        </p:nvSpPr>
        <p:spPr>
          <a:xfrm>
            <a:off x="1078992" y="1627632"/>
            <a:ext cx="3840480" cy="292608"/>
          </a:xfrm>
          <a:prstGeom prst="rect">
            <a:avLst/>
          </a:prstGeom>
          <a:noFill/>
          <a:ln/>
        </p:spPr>
        <p:txBody>
          <a:bodyPr wrap="square" lIns="0" tIns="0" rIns="0" bIns="0" rtlCol="0" anchor="ctr"/>
          <a:lstStyle/>
          <a:p>
            <a:pPr indent="0" marL="0">
              <a:buNone/>
            </a:pPr>
            <a:r>
              <a:rPr lang="en-US" sz="1700" b="1" dirty="0">
                <a:solidFill>
                  <a:srgbClr val="FFFFFF"/>
                </a:solidFill>
              </a:rPr>
              <a:t>LLM agents produce structured evidence</a:t>
            </a:r>
            <a:endParaRPr lang="en-US" sz="1700" dirty="0"/>
          </a:p>
        </p:txBody>
      </p:sp>
      <p:sp>
        <p:nvSpPr>
          <p:cNvPr id="6" name="Text 4"/>
          <p:cNvSpPr/>
          <p:nvPr/>
        </p:nvSpPr>
        <p:spPr>
          <a:xfrm>
            <a:off x="5029200" y="1527048"/>
            <a:ext cx="365760" cy="347472"/>
          </a:xfrm>
          <a:prstGeom prst="rect">
            <a:avLst/>
          </a:prstGeom>
          <a:noFill/>
          <a:ln/>
        </p:spPr>
        <p:txBody>
          <a:bodyPr wrap="square" lIns="0" tIns="0" rIns="0" bIns="0" rtlCol="0" anchor="ctr"/>
          <a:lstStyle/>
          <a:p>
            <a:pPr algn="ctr" indent="0" marL="0">
              <a:buNone/>
            </a:pPr>
            <a:r>
              <a:rPr lang="en-US" sz="2400" b="1" dirty="0">
                <a:solidFill>
                  <a:srgbClr val="67C5DA"/>
                </a:solidFill>
              </a:rPr>
              <a:t>→</a:t>
            </a:r>
            <a:endParaRPr lang="en-US" sz="2400" dirty="0"/>
          </a:p>
        </p:txBody>
      </p:sp>
      <p:sp>
        <p:nvSpPr>
          <p:cNvPr id="7" name="Text 5"/>
          <p:cNvSpPr/>
          <p:nvPr/>
        </p:nvSpPr>
        <p:spPr>
          <a:xfrm>
            <a:off x="5623560" y="1627632"/>
            <a:ext cx="3337560" cy="292608"/>
          </a:xfrm>
          <a:prstGeom prst="rect">
            <a:avLst/>
          </a:prstGeom>
          <a:noFill/>
          <a:ln/>
        </p:spPr>
        <p:txBody>
          <a:bodyPr wrap="square" lIns="0" tIns="0" rIns="0" bIns="0" rtlCol="0" anchor="ctr"/>
          <a:lstStyle/>
          <a:p>
            <a:pPr indent="0" marL="0">
              <a:buNone/>
            </a:pPr>
            <a:r>
              <a:rPr lang="en-US" sz="1700" b="1" dirty="0">
                <a:solidFill>
                  <a:srgbClr val="FFFFFF"/>
                </a:solidFill>
              </a:rPr>
              <a:t>Deterministic code builds the graph</a:t>
            </a:r>
            <a:endParaRPr lang="en-US" sz="1700" dirty="0"/>
          </a:p>
        </p:txBody>
      </p:sp>
      <p:sp>
        <p:nvSpPr>
          <p:cNvPr id="8" name="Text 6"/>
          <p:cNvSpPr/>
          <p:nvPr/>
        </p:nvSpPr>
        <p:spPr>
          <a:xfrm>
            <a:off x="9098280" y="1527048"/>
            <a:ext cx="365760" cy="347472"/>
          </a:xfrm>
          <a:prstGeom prst="rect">
            <a:avLst/>
          </a:prstGeom>
          <a:noFill/>
          <a:ln/>
        </p:spPr>
        <p:txBody>
          <a:bodyPr wrap="square" lIns="0" tIns="0" rIns="0" bIns="0" rtlCol="0" anchor="ctr"/>
          <a:lstStyle/>
          <a:p>
            <a:pPr algn="ctr" indent="0" marL="0">
              <a:buNone/>
            </a:pPr>
            <a:r>
              <a:rPr lang="en-US" sz="2400" b="1" dirty="0">
                <a:solidFill>
                  <a:srgbClr val="67C5DA"/>
                </a:solidFill>
              </a:rPr>
              <a:t>→</a:t>
            </a:r>
            <a:endParaRPr lang="en-US" sz="2400" dirty="0"/>
          </a:p>
        </p:txBody>
      </p:sp>
      <p:sp>
        <p:nvSpPr>
          <p:cNvPr id="9" name="Text 7"/>
          <p:cNvSpPr/>
          <p:nvPr/>
        </p:nvSpPr>
        <p:spPr>
          <a:xfrm>
            <a:off x="9710928" y="1627632"/>
            <a:ext cx="1417320" cy="292608"/>
          </a:xfrm>
          <a:prstGeom prst="rect">
            <a:avLst/>
          </a:prstGeom>
          <a:noFill/>
          <a:ln/>
        </p:spPr>
        <p:txBody>
          <a:bodyPr wrap="square" lIns="0" tIns="0" rIns="0" bIns="0" rtlCol="0" anchor="ctr">
            <a:normAutofit/>
          </a:bodyPr>
          <a:lstStyle/>
          <a:p>
            <a:pPr indent="0" marL="0">
              <a:buNone/>
            </a:pPr>
            <a:r>
              <a:rPr lang="en-US" sz="1700" b="1" dirty="0">
                <a:solidFill>
                  <a:srgbClr val="FFFFFF"/>
                </a:solidFill>
              </a:rPr>
              <a:t>Developer brief</a:t>
            </a:r>
            <a:endParaRPr lang="en-US" sz="1700" dirty="0"/>
          </a:p>
        </p:txBody>
      </p:sp>
      <p:sp>
        <p:nvSpPr>
          <p:cNvPr id="10" name="Shape 8"/>
          <p:cNvSpPr/>
          <p:nvPr/>
        </p:nvSpPr>
        <p:spPr>
          <a:xfrm>
            <a:off x="777240" y="2743200"/>
            <a:ext cx="2926080" cy="2148840"/>
          </a:xfrm>
          <a:prstGeom prst="roundRect">
            <a:avLst>
              <a:gd name="adj" fmla="val 3404"/>
            </a:avLst>
          </a:prstGeom>
          <a:solidFill>
            <a:srgbClr val="FFFFFF"/>
          </a:solidFill>
          <a:ln w="12700">
            <a:solidFill>
              <a:srgbClr val="D5DDE5"/>
            </a:solidFill>
            <a:prstDash val="solid"/>
          </a:ln>
          <a:effectLst>
            <a:outerShdw sx="100000" sy="100000" kx="0" ky="0" algn="bl" rotWithShape="0" blurRad="12700" dist="50800" dir="2700000">
              <a:srgbClr val="A7B0BC">
                <a:alpha val="10000"/>
              </a:srgbClr>
            </a:outerShdw>
          </a:effectLst>
        </p:spPr>
      </p:sp>
      <p:sp>
        <p:nvSpPr>
          <p:cNvPr id="11" name="Shape 9"/>
          <p:cNvSpPr/>
          <p:nvPr/>
        </p:nvSpPr>
        <p:spPr>
          <a:xfrm>
            <a:off x="1005840" y="2999232"/>
            <a:ext cx="438912" cy="438912"/>
          </a:xfrm>
          <a:prstGeom prst="ellipse">
            <a:avLst/>
          </a:prstGeom>
          <a:solidFill>
            <a:srgbClr val="0E7490"/>
          </a:solidFill>
          <a:ln w="12700">
            <a:solidFill>
              <a:srgbClr val="0E7490"/>
            </a:solidFill>
            <a:prstDash val="solid"/>
          </a:ln>
        </p:spPr>
      </p:sp>
      <p:sp>
        <p:nvSpPr>
          <p:cNvPr id="12" name="Text 10"/>
          <p:cNvSpPr/>
          <p:nvPr/>
        </p:nvSpPr>
        <p:spPr>
          <a:xfrm>
            <a:off x="1005840" y="3035808"/>
            <a:ext cx="438912" cy="36576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3" name="Text 11"/>
          <p:cNvSpPr/>
          <p:nvPr/>
        </p:nvSpPr>
        <p:spPr>
          <a:xfrm>
            <a:off x="1581912" y="3054096"/>
            <a:ext cx="1828800" cy="256032"/>
          </a:xfrm>
          <a:prstGeom prst="rect">
            <a:avLst/>
          </a:prstGeom>
          <a:noFill/>
          <a:ln/>
        </p:spPr>
        <p:txBody>
          <a:bodyPr wrap="square" lIns="0" tIns="0" rIns="0" bIns="0" rtlCol="0" anchor="ctr"/>
          <a:lstStyle/>
          <a:p>
            <a:pPr indent="0" marL="0">
              <a:buNone/>
            </a:pPr>
            <a:r>
              <a:rPr lang="en-US" sz="1600" b="1" dirty="0">
                <a:solidFill>
                  <a:srgbClr val="1F2A5A"/>
                </a:solidFill>
              </a:rPr>
              <a:t>Typed context in</a:t>
            </a:r>
            <a:endParaRPr lang="en-US" sz="1600" dirty="0"/>
          </a:p>
        </p:txBody>
      </p:sp>
      <p:sp>
        <p:nvSpPr>
          <p:cNvPr id="14" name="Text 12"/>
          <p:cNvSpPr/>
          <p:nvPr/>
        </p:nvSpPr>
        <p:spPr>
          <a:xfrm>
            <a:off x="1005840" y="3703320"/>
            <a:ext cx="2423160" cy="676656"/>
          </a:xfrm>
          <a:prstGeom prst="rect">
            <a:avLst/>
          </a:prstGeom>
          <a:noFill/>
          <a:ln/>
        </p:spPr>
        <p:txBody>
          <a:bodyPr wrap="square" lIns="0" tIns="0" rIns="0" bIns="0" rtlCol="0" anchor="ctr">
            <a:normAutofit/>
          </a:bodyPr>
          <a:lstStyle/>
          <a:p>
            <a:pPr indent="0" marL="0">
              <a:buNone/>
            </a:pPr>
            <a:r>
              <a:rPr lang="en-US" sz="1240" dirty="0">
                <a:solidFill>
                  <a:srgbClr val="26313D"/>
                </a:solidFill>
              </a:rPr>
              <a:t>Tickets are normalized before analysis, so agents read clean fields instead of messy prose.</a:t>
            </a:r>
            <a:endParaRPr lang="en-US" sz="1240" dirty="0"/>
          </a:p>
        </p:txBody>
      </p:sp>
      <p:sp>
        <p:nvSpPr>
          <p:cNvPr id="15" name="Shape 13"/>
          <p:cNvSpPr/>
          <p:nvPr/>
        </p:nvSpPr>
        <p:spPr>
          <a:xfrm>
            <a:off x="4343400" y="2743200"/>
            <a:ext cx="2926080" cy="2148840"/>
          </a:xfrm>
          <a:prstGeom prst="roundRect">
            <a:avLst>
              <a:gd name="adj" fmla="val 3404"/>
            </a:avLst>
          </a:prstGeom>
          <a:solidFill>
            <a:srgbClr val="FFFFFF"/>
          </a:solidFill>
          <a:ln w="12700">
            <a:solidFill>
              <a:srgbClr val="D5DDE5"/>
            </a:solidFill>
            <a:prstDash val="solid"/>
          </a:ln>
          <a:effectLst>
            <a:outerShdw sx="100000" sy="100000" kx="0" ky="0" algn="bl" rotWithShape="0" blurRad="12700" dist="50800" dir="2700000">
              <a:srgbClr val="A7B0BC">
                <a:alpha val="10000"/>
              </a:srgbClr>
            </a:outerShdw>
          </a:effectLst>
        </p:spPr>
      </p:sp>
      <p:sp>
        <p:nvSpPr>
          <p:cNvPr id="16" name="Shape 14"/>
          <p:cNvSpPr/>
          <p:nvPr/>
        </p:nvSpPr>
        <p:spPr>
          <a:xfrm>
            <a:off x="4572000" y="2999232"/>
            <a:ext cx="438912" cy="438912"/>
          </a:xfrm>
          <a:prstGeom prst="ellipse">
            <a:avLst/>
          </a:prstGeom>
          <a:solidFill>
            <a:srgbClr val="137B8E"/>
          </a:solidFill>
          <a:ln w="12700">
            <a:solidFill>
              <a:srgbClr val="137B8E"/>
            </a:solidFill>
            <a:prstDash val="solid"/>
          </a:ln>
        </p:spPr>
      </p:sp>
      <p:sp>
        <p:nvSpPr>
          <p:cNvPr id="17" name="Text 15"/>
          <p:cNvSpPr/>
          <p:nvPr/>
        </p:nvSpPr>
        <p:spPr>
          <a:xfrm>
            <a:off x="4572000" y="3035808"/>
            <a:ext cx="438912" cy="36576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8" name="Text 16"/>
          <p:cNvSpPr/>
          <p:nvPr/>
        </p:nvSpPr>
        <p:spPr>
          <a:xfrm>
            <a:off x="5148072" y="3054096"/>
            <a:ext cx="1828800" cy="256032"/>
          </a:xfrm>
          <a:prstGeom prst="rect">
            <a:avLst/>
          </a:prstGeom>
          <a:noFill/>
          <a:ln/>
        </p:spPr>
        <p:txBody>
          <a:bodyPr wrap="square" lIns="0" tIns="0" rIns="0" bIns="0" rtlCol="0" anchor="ctr"/>
          <a:lstStyle/>
          <a:p>
            <a:pPr indent="0" marL="0">
              <a:buNone/>
            </a:pPr>
            <a:r>
              <a:rPr lang="en-US" sz="1600" b="1" dirty="0">
                <a:solidFill>
                  <a:srgbClr val="1F2A5A"/>
                </a:solidFill>
              </a:rPr>
              <a:t>Schemas out</a:t>
            </a:r>
            <a:endParaRPr lang="en-US" sz="1600" dirty="0"/>
          </a:p>
        </p:txBody>
      </p:sp>
      <p:sp>
        <p:nvSpPr>
          <p:cNvPr id="19" name="Text 17"/>
          <p:cNvSpPr/>
          <p:nvPr/>
        </p:nvSpPr>
        <p:spPr>
          <a:xfrm>
            <a:off x="4572000" y="3703320"/>
            <a:ext cx="2423160" cy="676656"/>
          </a:xfrm>
          <a:prstGeom prst="rect">
            <a:avLst/>
          </a:prstGeom>
          <a:noFill/>
          <a:ln/>
        </p:spPr>
        <p:txBody>
          <a:bodyPr wrap="square" lIns="0" tIns="0" rIns="0" bIns="0" rtlCol="0" anchor="ctr">
            <a:normAutofit/>
          </a:bodyPr>
          <a:lstStyle/>
          <a:p>
            <a:pPr indent="0" marL="0">
              <a:buNone/>
            </a:pPr>
            <a:r>
              <a:rPr lang="en-US" sz="1240" dirty="0">
                <a:solidFill>
                  <a:srgbClr val="26313D"/>
                </a:solidFill>
              </a:rPr>
              <a:t>Each agent has one job and returns locked JSON: relevance, dependencies, collisions, evidence.</a:t>
            </a:r>
            <a:endParaRPr lang="en-US" sz="1240" dirty="0"/>
          </a:p>
        </p:txBody>
      </p:sp>
      <p:sp>
        <p:nvSpPr>
          <p:cNvPr id="20" name="Shape 18"/>
          <p:cNvSpPr/>
          <p:nvPr/>
        </p:nvSpPr>
        <p:spPr>
          <a:xfrm>
            <a:off x="7909560" y="2743200"/>
            <a:ext cx="2926080" cy="2148840"/>
          </a:xfrm>
          <a:prstGeom prst="roundRect">
            <a:avLst>
              <a:gd name="adj" fmla="val 3404"/>
            </a:avLst>
          </a:prstGeom>
          <a:solidFill>
            <a:srgbClr val="FFFFFF"/>
          </a:solidFill>
          <a:ln w="12700">
            <a:solidFill>
              <a:srgbClr val="D5DDE5"/>
            </a:solidFill>
            <a:prstDash val="solid"/>
          </a:ln>
          <a:effectLst>
            <a:outerShdw sx="100000" sy="100000" kx="0" ky="0" algn="bl" rotWithShape="0" blurRad="12700" dist="50800" dir="2700000">
              <a:srgbClr val="A7B0BC">
                <a:alpha val="10000"/>
              </a:srgbClr>
            </a:outerShdw>
          </a:effectLst>
        </p:spPr>
      </p:sp>
      <p:sp>
        <p:nvSpPr>
          <p:cNvPr id="21" name="Shape 19"/>
          <p:cNvSpPr/>
          <p:nvPr/>
        </p:nvSpPr>
        <p:spPr>
          <a:xfrm>
            <a:off x="8138160" y="2999232"/>
            <a:ext cx="438912" cy="438912"/>
          </a:xfrm>
          <a:prstGeom prst="ellipse">
            <a:avLst/>
          </a:prstGeom>
          <a:solidFill>
            <a:srgbClr val="1F2A5A"/>
          </a:solidFill>
          <a:ln w="12700">
            <a:solidFill>
              <a:srgbClr val="1F2A5A"/>
            </a:solidFill>
            <a:prstDash val="solid"/>
          </a:ln>
        </p:spPr>
      </p:sp>
      <p:sp>
        <p:nvSpPr>
          <p:cNvPr id="22" name="Text 20"/>
          <p:cNvSpPr/>
          <p:nvPr/>
        </p:nvSpPr>
        <p:spPr>
          <a:xfrm>
            <a:off x="8138160" y="3035808"/>
            <a:ext cx="438912" cy="36576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3" name="Text 21"/>
          <p:cNvSpPr/>
          <p:nvPr/>
        </p:nvSpPr>
        <p:spPr>
          <a:xfrm>
            <a:off x="8714232" y="3054096"/>
            <a:ext cx="1828800" cy="256032"/>
          </a:xfrm>
          <a:prstGeom prst="rect">
            <a:avLst/>
          </a:prstGeom>
          <a:noFill/>
          <a:ln/>
        </p:spPr>
        <p:txBody>
          <a:bodyPr wrap="square" lIns="0" tIns="0" rIns="0" bIns="0" rtlCol="0" anchor="ctr"/>
          <a:lstStyle/>
          <a:p>
            <a:pPr indent="0" marL="0">
              <a:buNone/>
            </a:pPr>
            <a:r>
              <a:rPr lang="en-US" sz="1600" b="1" dirty="0">
                <a:solidFill>
                  <a:srgbClr val="1F2A5A"/>
                </a:solidFill>
              </a:rPr>
              <a:t>Code enforces truth</a:t>
            </a:r>
            <a:endParaRPr lang="en-US" sz="1600" dirty="0"/>
          </a:p>
        </p:txBody>
      </p:sp>
      <p:sp>
        <p:nvSpPr>
          <p:cNvPr id="24" name="Text 22"/>
          <p:cNvSpPr/>
          <p:nvPr/>
        </p:nvSpPr>
        <p:spPr>
          <a:xfrm>
            <a:off x="8138160" y="3703320"/>
            <a:ext cx="2423160" cy="676656"/>
          </a:xfrm>
          <a:prstGeom prst="rect">
            <a:avLst/>
          </a:prstGeom>
          <a:noFill/>
          <a:ln/>
        </p:spPr>
        <p:txBody>
          <a:bodyPr wrap="square" lIns="0" tIns="0" rIns="0" bIns="0" rtlCol="0" anchor="ctr">
            <a:normAutofit/>
          </a:bodyPr>
          <a:lstStyle/>
          <a:p>
            <a:pPr indent="0" marL="0">
              <a:buNone/>
            </a:pPr>
            <a:r>
              <a:rPr lang="en-US" sz="1240" dirty="0">
                <a:solidFill>
                  <a:srgbClr val="26313D"/>
                </a:solidFill>
              </a:rPr>
              <a:t>Graph assembly, cached pair analysis, and the independent flag are recalculated in code.</a:t>
            </a:r>
            <a:endParaRPr lang="en-US" sz="1240" dirty="0"/>
          </a:p>
        </p:txBody>
      </p:sp>
      <p:sp>
        <p:nvSpPr>
          <p:cNvPr id="25" name="Shape 23"/>
          <p:cNvSpPr/>
          <p:nvPr/>
        </p:nvSpPr>
        <p:spPr>
          <a:xfrm>
            <a:off x="1554480" y="5349240"/>
            <a:ext cx="9052560" cy="530352"/>
          </a:xfrm>
          <a:prstGeom prst="roundRect">
            <a:avLst>
              <a:gd name="adj" fmla="val 8621"/>
            </a:avLst>
          </a:prstGeom>
          <a:solidFill>
            <a:srgbClr val="111827"/>
          </a:solidFill>
          <a:ln w="12700">
            <a:solidFill>
              <a:srgbClr val="111827"/>
            </a:solidFill>
            <a:prstDash val="solid"/>
          </a:ln>
        </p:spPr>
      </p:sp>
      <p:sp>
        <p:nvSpPr>
          <p:cNvPr id="26" name="Text 24"/>
          <p:cNvSpPr/>
          <p:nvPr/>
        </p:nvSpPr>
        <p:spPr>
          <a:xfrm>
            <a:off x="1874520" y="5513832"/>
            <a:ext cx="8412480" cy="182880"/>
          </a:xfrm>
          <a:prstGeom prst="rect">
            <a:avLst/>
          </a:prstGeom>
          <a:noFill/>
          <a:ln/>
        </p:spPr>
        <p:txBody>
          <a:bodyPr wrap="square" lIns="0" tIns="0" rIns="0" bIns="0" rtlCol="0" anchor="ctr">
            <a:normAutofit/>
          </a:bodyPr>
          <a:lstStyle/>
          <a:p>
            <a:pPr algn="ctr" indent="0" marL="0">
              <a:buNone/>
            </a:pPr>
            <a:r>
              <a:rPr lang="en-US" sz="1260" b="1" dirty="0">
                <a:solidFill>
                  <a:srgbClr val="67C5DA"/>
                </a:solidFill>
                <a:latin typeface="Courier New" pitchFamily="34" charset="0"/>
                <a:ea typeface="Courier New" pitchFamily="34" charset="-122"/>
                <a:cs typeface="Courier New" pitchFamily="34" charset="-120"/>
              </a:rPr>
              <a:t>independent = not dependency_exists and not collision_exists</a:t>
            </a:r>
            <a:endParaRPr lang="en-US" sz="1260" dirty="0"/>
          </a:p>
        </p:txBody>
      </p:sp>
      <p:sp>
        <p:nvSpPr>
          <p:cNvPr id="25" name="Slide Number Placeholder 0"/>
          <p:cNvSpPr>
            <a:spLocks noGrp="1"/>
          </p:cNvSpPr>
          <p:nvPr>
            <p:ph type="sldNum" sz="quarter" idx="4294967295"/>
          </p:nvPr>
        </p:nvSpPr>
        <p:spPr>
          <a:xfrm>
            <a:off x="11475720" y="6419088"/>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8B95A3"/>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10789920" cy="420624"/>
          </a:xfrm>
          <a:prstGeom prst="rect">
            <a:avLst/>
          </a:prstGeom>
          <a:noFill/>
          <a:ln/>
        </p:spPr>
        <p:txBody>
          <a:bodyPr wrap="square" lIns="0" tIns="0" rIns="0" bIns="0" rtlCol="0" anchor="ctr">
            <a:normAutofit/>
          </a:bodyPr>
          <a:lstStyle/>
          <a:p>
            <a:pPr indent="0" marL="0">
              <a:buNone/>
            </a:pPr>
            <a:r>
              <a:rPr lang="en-US" sz="2800" b="1" dirty="0">
                <a:solidFill>
                  <a:srgbClr val="1F2A5A"/>
                </a:solidFill>
                <a:latin typeface="Aptos Display" pitchFamily="34" charset="0"/>
                <a:ea typeface="Aptos Display" pitchFamily="34" charset="-122"/>
                <a:cs typeface="Aptos Display" pitchFamily="34" charset="-120"/>
              </a:rPr>
              <a:t>90-second live demo flow</a:t>
            </a:r>
            <a:endParaRPr lang="en-US" sz="2800" dirty="0"/>
          </a:p>
        </p:txBody>
      </p:sp>
      <p:sp>
        <p:nvSpPr>
          <p:cNvPr id="3" name="Text 1"/>
          <p:cNvSpPr/>
          <p:nvPr/>
        </p:nvSpPr>
        <p:spPr>
          <a:xfrm>
            <a:off x="585216" y="868680"/>
            <a:ext cx="10424160" cy="292608"/>
          </a:xfrm>
          <a:prstGeom prst="rect">
            <a:avLst/>
          </a:prstGeom>
          <a:noFill/>
          <a:ln/>
        </p:spPr>
        <p:txBody>
          <a:bodyPr wrap="square" lIns="0" tIns="0" rIns="0" bIns="0" rtlCol="0" anchor="ctr">
            <a:normAutofit/>
          </a:bodyPr>
          <a:lstStyle/>
          <a:p>
            <a:pPr indent="0" marL="0">
              <a:buNone/>
            </a:pPr>
            <a:r>
              <a:rPr lang="en-US" sz="1300" dirty="0">
                <a:solidFill>
                  <a:srgbClr val="677281"/>
                </a:solidFill>
              </a:rPr>
              <a:t>Show only the two outputs that matter: the graph and the developer brief.</a:t>
            </a:r>
            <a:endParaRPr lang="en-US" sz="1300" dirty="0"/>
          </a:p>
        </p:txBody>
      </p:sp>
      <p:sp>
        <p:nvSpPr>
          <p:cNvPr id="4" name="Shape 2"/>
          <p:cNvSpPr/>
          <p:nvPr/>
        </p:nvSpPr>
        <p:spPr>
          <a:xfrm>
            <a:off x="685800" y="1417320"/>
            <a:ext cx="3154680" cy="4434840"/>
          </a:xfrm>
          <a:prstGeom prst="roundRect">
            <a:avLst>
              <a:gd name="adj" fmla="val 2319"/>
            </a:avLst>
          </a:prstGeom>
          <a:solidFill>
            <a:srgbClr val="FFFFFF"/>
          </a:solidFill>
          <a:ln w="12700">
            <a:solidFill>
              <a:srgbClr val="D5DDE5"/>
            </a:solidFill>
            <a:prstDash val="solid"/>
          </a:ln>
          <a:effectLst>
            <a:outerShdw sx="100000" sy="100000" kx="0" ky="0" algn="bl" rotWithShape="0" blurRad="12700" dist="50800" dir="2700000">
              <a:srgbClr val="A7B0BC">
                <a:alpha val="10000"/>
              </a:srgbClr>
            </a:outerShdw>
          </a:effectLst>
        </p:spPr>
      </p:sp>
      <p:sp>
        <p:nvSpPr>
          <p:cNvPr id="5" name="Shape 3"/>
          <p:cNvSpPr/>
          <p:nvPr/>
        </p:nvSpPr>
        <p:spPr>
          <a:xfrm>
            <a:off x="960120" y="1737360"/>
            <a:ext cx="438912" cy="438912"/>
          </a:xfrm>
          <a:prstGeom prst="ellipse">
            <a:avLst/>
          </a:prstGeom>
          <a:solidFill>
            <a:srgbClr val="0E7490"/>
          </a:solidFill>
          <a:ln w="12700">
            <a:solidFill>
              <a:srgbClr val="0E7490"/>
            </a:solidFill>
            <a:prstDash val="solid"/>
          </a:ln>
        </p:spPr>
      </p:sp>
      <p:sp>
        <p:nvSpPr>
          <p:cNvPr id="6" name="Text 4"/>
          <p:cNvSpPr/>
          <p:nvPr/>
        </p:nvSpPr>
        <p:spPr>
          <a:xfrm>
            <a:off x="960120" y="1773936"/>
            <a:ext cx="438912" cy="36576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5"/>
          <p:cNvSpPr/>
          <p:nvPr/>
        </p:nvSpPr>
        <p:spPr>
          <a:xfrm>
            <a:off x="1527048" y="1783080"/>
            <a:ext cx="1828800" cy="274320"/>
          </a:xfrm>
          <a:prstGeom prst="rect">
            <a:avLst/>
          </a:prstGeom>
          <a:noFill/>
          <a:ln/>
        </p:spPr>
        <p:txBody>
          <a:bodyPr wrap="square" lIns="0" tIns="0" rIns="0" bIns="0" rtlCol="0" anchor="ctr"/>
          <a:lstStyle/>
          <a:p>
            <a:pPr indent="0" marL="0">
              <a:buNone/>
            </a:pPr>
            <a:r>
              <a:rPr lang="en-US" sz="1700" b="1" dirty="0">
                <a:solidFill>
                  <a:srgbClr val="1F2A5A"/>
                </a:solidFill>
              </a:rPr>
              <a:t>Run the analyzer</a:t>
            </a:r>
            <a:endParaRPr lang="en-US" sz="1700" dirty="0"/>
          </a:p>
        </p:txBody>
      </p:sp>
      <p:sp>
        <p:nvSpPr>
          <p:cNvPr id="8" name="Shape 6"/>
          <p:cNvSpPr/>
          <p:nvPr/>
        </p:nvSpPr>
        <p:spPr>
          <a:xfrm>
            <a:off x="960120" y="2542032"/>
            <a:ext cx="2331720" cy="530352"/>
          </a:xfrm>
          <a:prstGeom prst="roundRect">
            <a:avLst>
              <a:gd name="adj" fmla="val 8621"/>
            </a:avLst>
          </a:prstGeom>
          <a:solidFill>
            <a:srgbClr val="111827"/>
          </a:solidFill>
          <a:ln w="12700">
            <a:solidFill>
              <a:srgbClr val="111827"/>
            </a:solidFill>
            <a:prstDash val="solid"/>
          </a:ln>
        </p:spPr>
      </p:sp>
      <p:sp>
        <p:nvSpPr>
          <p:cNvPr id="9" name="Text 7"/>
          <p:cNvSpPr/>
          <p:nvPr/>
        </p:nvSpPr>
        <p:spPr>
          <a:xfrm>
            <a:off x="1143000" y="2706624"/>
            <a:ext cx="2011680" cy="164592"/>
          </a:xfrm>
          <a:prstGeom prst="rect">
            <a:avLst/>
          </a:prstGeom>
          <a:noFill/>
          <a:ln/>
        </p:spPr>
        <p:txBody>
          <a:bodyPr wrap="square" lIns="0" tIns="0" rIns="0" bIns="0" rtlCol="0" anchor="ctr"/>
          <a:lstStyle/>
          <a:p>
            <a:pPr indent="0" marL="0">
              <a:buNone/>
            </a:pPr>
            <a:r>
              <a:rPr lang="en-US" sz="1250" b="1" dirty="0">
                <a:solidFill>
                  <a:srgbClr val="67C5DA"/>
                </a:solidFill>
                <a:latin typeface="Courier New" pitchFamily="34" charset="0"/>
                <a:ea typeface="Courier New" pitchFamily="34" charset="-122"/>
                <a:cs typeface="Courier New" pitchFamily="34" charset="-120"/>
              </a:rPr>
              <a:t>changeguard run</a:t>
            </a:r>
            <a:endParaRPr lang="en-US" sz="1250" dirty="0"/>
          </a:p>
        </p:txBody>
      </p:sp>
      <p:sp>
        <p:nvSpPr>
          <p:cNvPr id="10" name="Text 8"/>
          <p:cNvSpPr/>
          <p:nvPr/>
        </p:nvSpPr>
        <p:spPr>
          <a:xfrm>
            <a:off x="960120" y="3520440"/>
            <a:ext cx="2514600" cy="731520"/>
          </a:xfrm>
          <a:prstGeom prst="rect">
            <a:avLst/>
          </a:prstGeom>
          <a:noFill/>
          <a:ln/>
        </p:spPr>
        <p:txBody>
          <a:bodyPr wrap="square" lIns="0" tIns="0" rIns="0" bIns="0" rtlCol="0" anchor="ctr">
            <a:normAutofit/>
          </a:bodyPr>
          <a:lstStyle/>
          <a:p>
            <a:pPr indent="0" marL="0">
              <a:buNone/>
            </a:pPr>
            <a:r>
              <a:rPr lang="en-US" sz="1250" dirty="0">
                <a:solidFill>
                  <a:srgbClr val="26313D"/>
                </a:solidFill>
              </a:rPr>
              <a:t>Point out: it reads the inbox, repo context, and cached state.</a:t>
            </a:r>
            <a:endParaRPr lang="en-US" sz="1250" dirty="0"/>
          </a:p>
        </p:txBody>
      </p:sp>
      <p:sp>
        <p:nvSpPr>
          <p:cNvPr id="11" name="Shape 9"/>
          <p:cNvSpPr/>
          <p:nvPr/>
        </p:nvSpPr>
        <p:spPr>
          <a:xfrm>
            <a:off x="960120" y="4892040"/>
            <a:ext cx="1417320" cy="283464"/>
          </a:xfrm>
          <a:prstGeom prst="roundRect">
            <a:avLst>
              <a:gd name="adj" fmla="val 25806"/>
            </a:avLst>
          </a:prstGeom>
          <a:solidFill>
            <a:srgbClr val="EAF6F8"/>
          </a:solidFill>
          <a:ln w="12700">
            <a:solidFill>
              <a:srgbClr val="EAF6F8"/>
            </a:solidFill>
            <a:prstDash val="solid"/>
          </a:ln>
        </p:spPr>
      </p:sp>
      <p:sp>
        <p:nvSpPr>
          <p:cNvPr id="12" name="Text 10"/>
          <p:cNvSpPr/>
          <p:nvPr/>
        </p:nvSpPr>
        <p:spPr>
          <a:xfrm>
            <a:off x="1033272" y="4951476"/>
            <a:ext cx="1271016" cy="146304"/>
          </a:xfrm>
          <a:prstGeom prst="rect">
            <a:avLst/>
          </a:prstGeom>
          <a:noFill/>
          <a:ln/>
        </p:spPr>
        <p:txBody>
          <a:bodyPr wrap="square" lIns="0" tIns="0" rIns="0" bIns="0" rtlCol="0" anchor="ctr">
            <a:normAutofit/>
          </a:bodyPr>
          <a:lstStyle/>
          <a:p>
            <a:pPr algn="ctr" indent="0" marL="0">
              <a:buNone/>
            </a:pPr>
            <a:r>
              <a:rPr lang="en-US" sz="840" b="1" dirty="0">
                <a:solidFill>
                  <a:srgbClr val="0E7490"/>
                </a:solidFill>
              </a:rPr>
              <a:t>30 SEC</a:t>
            </a:r>
            <a:endParaRPr lang="en-US" sz="840" dirty="0"/>
          </a:p>
        </p:txBody>
      </p:sp>
      <p:sp>
        <p:nvSpPr>
          <p:cNvPr id="13" name="Shape 11"/>
          <p:cNvSpPr/>
          <p:nvPr/>
        </p:nvSpPr>
        <p:spPr>
          <a:xfrm>
            <a:off x="4526280" y="1417320"/>
            <a:ext cx="3154680" cy="4434840"/>
          </a:xfrm>
          <a:prstGeom prst="roundRect">
            <a:avLst>
              <a:gd name="adj" fmla="val 2319"/>
            </a:avLst>
          </a:prstGeom>
          <a:solidFill>
            <a:srgbClr val="EAF6F8"/>
          </a:solidFill>
          <a:ln w="12700">
            <a:solidFill>
              <a:srgbClr val="D5DDE5"/>
            </a:solidFill>
            <a:prstDash val="solid"/>
          </a:ln>
          <a:effectLst>
            <a:outerShdw sx="100000" sy="100000" kx="0" ky="0" algn="bl" rotWithShape="0" blurRad="12700" dist="50800" dir="2700000">
              <a:srgbClr val="A7B0BC">
                <a:alpha val="10000"/>
              </a:srgbClr>
            </a:outerShdw>
          </a:effectLst>
        </p:spPr>
      </p:sp>
      <p:sp>
        <p:nvSpPr>
          <p:cNvPr id="14" name="Shape 12"/>
          <p:cNvSpPr/>
          <p:nvPr/>
        </p:nvSpPr>
        <p:spPr>
          <a:xfrm>
            <a:off x="4800600" y="1737360"/>
            <a:ext cx="438912" cy="438912"/>
          </a:xfrm>
          <a:prstGeom prst="ellipse">
            <a:avLst/>
          </a:prstGeom>
          <a:solidFill>
            <a:srgbClr val="0E7490"/>
          </a:solidFill>
          <a:ln w="12700">
            <a:solidFill>
              <a:srgbClr val="0E7490"/>
            </a:solidFill>
            <a:prstDash val="solid"/>
          </a:ln>
        </p:spPr>
      </p:sp>
      <p:sp>
        <p:nvSpPr>
          <p:cNvPr id="15" name="Text 13"/>
          <p:cNvSpPr/>
          <p:nvPr/>
        </p:nvSpPr>
        <p:spPr>
          <a:xfrm>
            <a:off x="4800600" y="1773936"/>
            <a:ext cx="438912" cy="36576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6" name="Text 14"/>
          <p:cNvSpPr/>
          <p:nvPr/>
        </p:nvSpPr>
        <p:spPr>
          <a:xfrm>
            <a:off x="5367528" y="1783080"/>
            <a:ext cx="1828800" cy="274320"/>
          </a:xfrm>
          <a:prstGeom prst="rect">
            <a:avLst/>
          </a:prstGeom>
          <a:noFill/>
          <a:ln/>
        </p:spPr>
        <p:txBody>
          <a:bodyPr wrap="square" lIns="0" tIns="0" rIns="0" bIns="0" rtlCol="0" anchor="ctr"/>
          <a:lstStyle/>
          <a:p>
            <a:pPr indent="0" marL="0">
              <a:buNone/>
            </a:pPr>
            <a:r>
              <a:rPr lang="en-US" sz="1700" b="1" dirty="0">
                <a:solidFill>
                  <a:srgbClr val="1F2A5A"/>
                </a:solidFill>
              </a:rPr>
              <a:t>Open the graph</a:t>
            </a:r>
            <a:endParaRPr lang="en-US" sz="1700" dirty="0"/>
          </a:p>
        </p:txBody>
      </p:sp>
      <p:sp>
        <p:nvSpPr>
          <p:cNvPr id="17" name="Shape 15"/>
          <p:cNvSpPr/>
          <p:nvPr/>
        </p:nvSpPr>
        <p:spPr>
          <a:xfrm>
            <a:off x="4983480" y="2606040"/>
            <a:ext cx="960120" cy="594360"/>
          </a:xfrm>
          <a:prstGeom prst="roundRect">
            <a:avLst>
              <a:gd name="adj" fmla="val 10769"/>
            </a:avLst>
          </a:prstGeom>
          <a:solidFill>
            <a:srgbClr val="1F2A5A"/>
          </a:solidFill>
          <a:ln w="12700">
            <a:solidFill>
              <a:srgbClr val="1F2A5A"/>
            </a:solidFill>
            <a:prstDash val="solid"/>
          </a:ln>
        </p:spPr>
      </p:sp>
      <p:sp>
        <p:nvSpPr>
          <p:cNvPr id="18" name="Text 16"/>
          <p:cNvSpPr/>
          <p:nvPr/>
        </p:nvSpPr>
        <p:spPr>
          <a:xfrm>
            <a:off x="5093208" y="2697480"/>
            <a:ext cx="740664" cy="164592"/>
          </a:xfrm>
          <a:prstGeom prst="rect">
            <a:avLst/>
          </a:prstGeom>
          <a:noFill/>
          <a:ln/>
        </p:spPr>
        <p:txBody>
          <a:bodyPr wrap="square" lIns="0" tIns="0" rIns="0" bIns="0" rtlCol="0" anchor="ctr"/>
          <a:lstStyle/>
          <a:p>
            <a:pPr algn="ctr" indent="0" marL="0">
              <a:buNone/>
            </a:pPr>
            <a:r>
              <a:rPr lang="en-US" sz="920" b="1" dirty="0">
                <a:solidFill>
                  <a:srgbClr val="FFFFFF"/>
                </a:solidFill>
              </a:rPr>
              <a:t>105</a:t>
            </a:r>
            <a:endParaRPr lang="en-US" sz="920" dirty="0"/>
          </a:p>
        </p:txBody>
      </p:sp>
      <p:sp>
        <p:nvSpPr>
          <p:cNvPr id="19" name="Text 17"/>
          <p:cNvSpPr/>
          <p:nvPr/>
        </p:nvSpPr>
        <p:spPr>
          <a:xfrm>
            <a:off x="5093208" y="2916936"/>
            <a:ext cx="740664" cy="210312"/>
          </a:xfrm>
          <a:prstGeom prst="rect">
            <a:avLst/>
          </a:prstGeom>
          <a:noFill/>
          <a:ln/>
        </p:spPr>
        <p:txBody>
          <a:bodyPr wrap="square" lIns="0" tIns="0" rIns="0" bIns="0" rtlCol="0" anchor="ctr">
            <a:normAutofit/>
          </a:bodyPr>
          <a:lstStyle/>
          <a:p>
            <a:pPr algn="ctr" indent="0" marL="0">
              <a:buNone/>
            </a:pPr>
            <a:r>
              <a:rPr lang="en-US" sz="850" dirty="0">
                <a:solidFill>
                  <a:srgbClr val="E8EEF9"/>
                </a:solidFill>
              </a:rPr>
              <a:t>Policy</a:t>
            </a:r>
            <a:endParaRPr lang="en-US" sz="850" dirty="0"/>
          </a:p>
        </p:txBody>
      </p:sp>
      <p:sp>
        <p:nvSpPr>
          <p:cNvPr id="20" name="Shape 18"/>
          <p:cNvSpPr/>
          <p:nvPr/>
        </p:nvSpPr>
        <p:spPr>
          <a:xfrm>
            <a:off x="6355080" y="2606040"/>
            <a:ext cx="960120" cy="594360"/>
          </a:xfrm>
          <a:prstGeom prst="roundRect">
            <a:avLst>
              <a:gd name="adj" fmla="val 10769"/>
            </a:avLst>
          </a:prstGeom>
          <a:solidFill>
            <a:srgbClr val="1F2A5A"/>
          </a:solidFill>
          <a:ln w="12700">
            <a:solidFill>
              <a:srgbClr val="1F2A5A"/>
            </a:solidFill>
            <a:prstDash val="solid"/>
          </a:ln>
        </p:spPr>
      </p:sp>
      <p:sp>
        <p:nvSpPr>
          <p:cNvPr id="21" name="Text 19"/>
          <p:cNvSpPr/>
          <p:nvPr/>
        </p:nvSpPr>
        <p:spPr>
          <a:xfrm>
            <a:off x="6464808" y="2697480"/>
            <a:ext cx="740664" cy="164592"/>
          </a:xfrm>
          <a:prstGeom prst="rect">
            <a:avLst/>
          </a:prstGeom>
          <a:noFill/>
          <a:ln/>
        </p:spPr>
        <p:txBody>
          <a:bodyPr wrap="square" lIns="0" tIns="0" rIns="0" bIns="0" rtlCol="0" anchor="ctr"/>
          <a:lstStyle/>
          <a:p>
            <a:pPr algn="ctr" indent="0" marL="0">
              <a:buNone/>
            </a:pPr>
            <a:r>
              <a:rPr lang="en-US" sz="920" b="1" dirty="0">
                <a:solidFill>
                  <a:srgbClr val="FFFFFF"/>
                </a:solidFill>
              </a:rPr>
              <a:t>101</a:t>
            </a:r>
            <a:endParaRPr lang="en-US" sz="920" dirty="0"/>
          </a:p>
        </p:txBody>
      </p:sp>
      <p:sp>
        <p:nvSpPr>
          <p:cNvPr id="22" name="Text 20"/>
          <p:cNvSpPr/>
          <p:nvPr/>
        </p:nvSpPr>
        <p:spPr>
          <a:xfrm>
            <a:off x="6464808" y="2916936"/>
            <a:ext cx="740664" cy="210312"/>
          </a:xfrm>
          <a:prstGeom prst="rect">
            <a:avLst/>
          </a:prstGeom>
          <a:noFill/>
          <a:ln/>
        </p:spPr>
        <p:txBody>
          <a:bodyPr wrap="square" lIns="0" tIns="0" rIns="0" bIns="0" rtlCol="0" anchor="ctr">
            <a:normAutofit/>
          </a:bodyPr>
          <a:lstStyle/>
          <a:p>
            <a:pPr algn="ctr" indent="0" marL="0">
              <a:buNone/>
            </a:pPr>
            <a:r>
              <a:rPr lang="en-US" sz="850" dirty="0">
                <a:solidFill>
                  <a:srgbClr val="E8EEF9"/>
                </a:solidFill>
              </a:rPr>
              <a:t>Hold</a:t>
            </a:r>
            <a:endParaRPr lang="en-US" sz="850" dirty="0"/>
          </a:p>
        </p:txBody>
      </p:sp>
      <p:sp>
        <p:nvSpPr>
          <p:cNvPr id="23" name="Shape 21"/>
          <p:cNvSpPr/>
          <p:nvPr/>
        </p:nvSpPr>
        <p:spPr>
          <a:xfrm>
            <a:off x="5669280" y="3840480"/>
            <a:ext cx="960120" cy="594360"/>
          </a:xfrm>
          <a:prstGeom prst="roundRect">
            <a:avLst>
              <a:gd name="adj" fmla="val 10769"/>
            </a:avLst>
          </a:prstGeom>
          <a:solidFill>
            <a:srgbClr val="1F2A5A"/>
          </a:solidFill>
          <a:ln w="12700">
            <a:solidFill>
              <a:srgbClr val="1F2A5A"/>
            </a:solidFill>
            <a:prstDash val="solid"/>
          </a:ln>
        </p:spPr>
      </p:sp>
      <p:sp>
        <p:nvSpPr>
          <p:cNvPr id="24" name="Text 22"/>
          <p:cNvSpPr/>
          <p:nvPr/>
        </p:nvSpPr>
        <p:spPr>
          <a:xfrm>
            <a:off x="5779008" y="3931920"/>
            <a:ext cx="740664" cy="164592"/>
          </a:xfrm>
          <a:prstGeom prst="rect">
            <a:avLst/>
          </a:prstGeom>
          <a:noFill/>
          <a:ln/>
        </p:spPr>
        <p:txBody>
          <a:bodyPr wrap="square" lIns="0" tIns="0" rIns="0" bIns="0" rtlCol="0" anchor="ctr"/>
          <a:lstStyle/>
          <a:p>
            <a:pPr algn="ctr" indent="0" marL="0">
              <a:buNone/>
            </a:pPr>
            <a:r>
              <a:rPr lang="en-US" sz="920" b="1" dirty="0">
                <a:solidFill>
                  <a:srgbClr val="FFFFFF"/>
                </a:solidFill>
              </a:rPr>
              <a:t>102</a:t>
            </a:r>
            <a:endParaRPr lang="en-US" sz="920" dirty="0"/>
          </a:p>
        </p:txBody>
      </p:sp>
      <p:sp>
        <p:nvSpPr>
          <p:cNvPr id="25" name="Text 23"/>
          <p:cNvSpPr/>
          <p:nvPr/>
        </p:nvSpPr>
        <p:spPr>
          <a:xfrm>
            <a:off x="5779008" y="4151376"/>
            <a:ext cx="740664" cy="210312"/>
          </a:xfrm>
          <a:prstGeom prst="rect">
            <a:avLst/>
          </a:prstGeom>
          <a:noFill/>
          <a:ln/>
        </p:spPr>
        <p:txBody>
          <a:bodyPr wrap="square" lIns="0" tIns="0" rIns="0" bIns="0" rtlCol="0" anchor="ctr">
            <a:normAutofit/>
          </a:bodyPr>
          <a:lstStyle/>
          <a:p>
            <a:pPr algn="ctr" indent="0" marL="0">
              <a:buNone/>
            </a:pPr>
            <a:r>
              <a:rPr lang="en-US" sz="850" dirty="0">
                <a:solidFill>
                  <a:srgbClr val="E8EEF9"/>
                </a:solidFill>
              </a:rPr>
              <a:t>Billing</a:t>
            </a:r>
            <a:endParaRPr lang="en-US" sz="850" dirty="0"/>
          </a:p>
        </p:txBody>
      </p:sp>
      <p:sp>
        <p:nvSpPr>
          <p:cNvPr id="26" name="Shape 24"/>
          <p:cNvSpPr/>
          <p:nvPr/>
        </p:nvSpPr>
        <p:spPr>
          <a:xfrm>
            <a:off x="5961888" y="2907792"/>
            <a:ext cx="374904" cy="0"/>
          </a:xfrm>
          <a:prstGeom prst="line">
            <a:avLst/>
          </a:prstGeom>
          <a:noFill/>
          <a:ln w="25400">
            <a:solidFill>
              <a:srgbClr val="0E7490"/>
            </a:solidFill>
            <a:prstDash val="solid"/>
            <a:headEnd type="none"/>
            <a:tailEnd type="triangle"/>
          </a:ln>
        </p:spPr>
      </p:sp>
      <p:sp>
        <p:nvSpPr>
          <p:cNvPr id="27" name="Shape 25"/>
          <p:cNvSpPr/>
          <p:nvPr/>
        </p:nvSpPr>
        <p:spPr>
          <a:xfrm>
            <a:off x="6382512" y="3200400"/>
            <a:ext cx="-237744" cy="621792"/>
          </a:xfrm>
          <a:prstGeom prst="line">
            <a:avLst/>
          </a:prstGeom>
          <a:noFill/>
          <a:ln w="25400">
            <a:solidFill>
              <a:srgbClr val="0E7490"/>
            </a:solidFill>
            <a:prstDash val="solid"/>
            <a:headEnd type="none"/>
            <a:tailEnd type="triangle"/>
          </a:ln>
        </p:spPr>
      </p:sp>
      <p:sp>
        <p:nvSpPr>
          <p:cNvPr id="28" name="Shape 26"/>
          <p:cNvSpPr/>
          <p:nvPr/>
        </p:nvSpPr>
        <p:spPr>
          <a:xfrm>
            <a:off x="5468112" y="3200400"/>
            <a:ext cx="685800" cy="594360"/>
          </a:xfrm>
          <a:prstGeom prst="line">
            <a:avLst/>
          </a:prstGeom>
          <a:noFill/>
          <a:ln w="22860">
            <a:solidFill>
              <a:srgbClr val="D96060"/>
            </a:solidFill>
            <a:prstDash val="dash"/>
          </a:ln>
        </p:spPr>
      </p:sp>
      <p:sp>
        <p:nvSpPr>
          <p:cNvPr id="29" name="Text 27"/>
          <p:cNvSpPr/>
          <p:nvPr/>
        </p:nvSpPr>
        <p:spPr>
          <a:xfrm>
            <a:off x="4800600" y="4645152"/>
            <a:ext cx="2423160" cy="502920"/>
          </a:xfrm>
          <a:prstGeom prst="rect">
            <a:avLst/>
          </a:prstGeom>
          <a:noFill/>
          <a:ln/>
        </p:spPr>
        <p:txBody>
          <a:bodyPr wrap="square" lIns="0" tIns="0" rIns="0" bIns="0" rtlCol="0" anchor="ctr">
            <a:normAutofit/>
          </a:bodyPr>
          <a:lstStyle/>
          <a:p>
            <a:pPr algn="ctr" indent="0" marL="0">
              <a:buNone/>
            </a:pPr>
            <a:r>
              <a:rPr lang="en-US" sz="1250" b="1" dirty="0">
                <a:solidFill>
                  <a:srgbClr val="1F2A5A"/>
                </a:solidFill>
              </a:rPr>
              <a:t>Say: none of these active tickets are fully independent.</a:t>
            </a:r>
            <a:endParaRPr lang="en-US" sz="1250" dirty="0"/>
          </a:p>
        </p:txBody>
      </p:sp>
      <p:sp>
        <p:nvSpPr>
          <p:cNvPr id="30" name="Shape 28"/>
          <p:cNvSpPr/>
          <p:nvPr/>
        </p:nvSpPr>
        <p:spPr>
          <a:xfrm>
            <a:off x="4800600" y="5257800"/>
            <a:ext cx="1417320" cy="283464"/>
          </a:xfrm>
          <a:prstGeom prst="roundRect">
            <a:avLst>
              <a:gd name="adj" fmla="val 25806"/>
            </a:avLst>
          </a:prstGeom>
          <a:solidFill>
            <a:srgbClr val="FFFFFF"/>
          </a:solidFill>
          <a:ln w="12700">
            <a:solidFill>
              <a:srgbClr val="FFFFFF"/>
            </a:solidFill>
            <a:prstDash val="solid"/>
          </a:ln>
        </p:spPr>
      </p:sp>
      <p:sp>
        <p:nvSpPr>
          <p:cNvPr id="31" name="Text 29"/>
          <p:cNvSpPr/>
          <p:nvPr/>
        </p:nvSpPr>
        <p:spPr>
          <a:xfrm>
            <a:off x="4873752" y="5317236"/>
            <a:ext cx="1271016" cy="146304"/>
          </a:xfrm>
          <a:prstGeom prst="rect">
            <a:avLst/>
          </a:prstGeom>
          <a:noFill/>
          <a:ln/>
        </p:spPr>
        <p:txBody>
          <a:bodyPr wrap="square" lIns="0" tIns="0" rIns="0" bIns="0" rtlCol="0" anchor="ctr">
            <a:normAutofit/>
          </a:bodyPr>
          <a:lstStyle/>
          <a:p>
            <a:pPr algn="ctr" indent="0" marL="0">
              <a:buNone/>
            </a:pPr>
            <a:r>
              <a:rPr lang="en-US" sz="840" b="1" dirty="0">
                <a:solidFill>
                  <a:srgbClr val="0E7490"/>
                </a:solidFill>
              </a:rPr>
              <a:t>35 SEC</a:t>
            </a:r>
            <a:endParaRPr lang="en-US" sz="840" dirty="0"/>
          </a:p>
        </p:txBody>
      </p:sp>
      <p:sp>
        <p:nvSpPr>
          <p:cNvPr id="32" name="Shape 30"/>
          <p:cNvSpPr/>
          <p:nvPr/>
        </p:nvSpPr>
        <p:spPr>
          <a:xfrm>
            <a:off x="8366760" y="1417320"/>
            <a:ext cx="3154680" cy="4434840"/>
          </a:xfrm>
          <a:prstGeom prst="roundRect">
            <a:avLst>
              <a:gd name="adj" fmla="val 2319"/>
            </a:avLst>
          </a:prstGeom>
          <a:solidFill>
            <a:srgbClr val="FFFFFF"/>
          </a:solidFill>
          <a:ln w="12700">
            <a:solidFill>
              <a:srgbClr val="D5DDE5"/>
            </a:solidFill>
            <a:prstDash val="solid"/>
          </a:ln>
          <a:effectLst>
            <a:outerShdw sx="100000" sy="100000" kx="0" ky="0" algn="bl" rotWithShape="0" blurRad="12700" dist="50800" dir="2700000">
              <a:srgbClr val="A7B0BC">
                <a:alpha val="10000"/>
              </a:srgbClr>
            </a:outerShdw>
          </a:effectLst>
        </p:spPr>
      </p:sp>
      <p:sp>
        <p:nvSpPr>
          <p:cNvPr id="33" name="Shape 31"/>
          <p:cNvSpPr/>
          <p:nvPr/>
        </p:nvSpPr>
        <p:spPr>
          <a:xfrm>
            <a:off x="8641080" y="1737360"/>
            <a:ext cx="438912" cy="438912"/>
          </a:xfrm>
          <a:prstGeom prst="ellipse">
            <a:avLst/>
          </a:prstGeom>
          <a:solidFill>
            <a:srgbClr val="0E7490"/>
          </a:solidFill>
          <a:ln w="12700">
            <a:solidFill>
              <a:srgbClr val="0E7490"/>
            </a:solidFill>
            <a:prstDash val="solid"/>
          </a:ln>
        </p:spPr>
      </p:sp>
      <p:sp>
        <p:nvSpPr>
          <p:cNvPr id="34" name="Text 32"/>
          <p:cNvSpPr/>
          <p:nvPr/>
        </p:nvSpPr>
        <p:spPr>
          <a:xfrm>
            <a:off x="8641080" y="1773936"/>
            <a:ext cx="438912" cy="36576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5" name="Text 33"/>
          <p:cNvSpPr/>
          <p:nvPr/>
        </p:nvSpPr>
        <p:spPr>
          <a:xfrm>
            <a:off x="9208008" y="1783080"/>
            <a:ext cx="1828800" cy="274320"/>
          </a:xfrm>
          <a:prstGeom prst="rect">
            <a:avLst/>
          </a:prstGeom>
          <a:noFill/>
          <a:ln/>
        </p:spPr>
        <p:txBody>
          <a:bodyPr wrap="square" lIns="0" tIns="0" rIns="0" bIns="0" rtlCol="0" anchor="ctr"/>
          <a:lstStyle/>
          <a:p>
            <a:pPr indent="0" marL="0">
              <a:buNone/>
            </a:pPr>
            <a:r>
              <a:rPr lang="en-US" sz="1700" b="1" dirty="0">
                <a:solidFill>
                  <a:srgbClr val="1F2A5A"/>
                </a:solidFill>
              </a:rPr>
              <a:t>Show the brief</a:t>
            </a:r>
            <a:endParaRPr lang="en-US" sz="1700" dirty="0"/>
          </a:p>
        </p:txBody>
      </p:sp>
      <p:sp>
        <p:nvSpPr>
          <p:cNvPr id="36" name="Shape 34"/>
          <p:cNvSpPr/>
          <p:nvPr/>
        </p:nvSpPr>
        <p:spPr>
          <a:xfrm>
            <a:off x="8641080" y="2542032"/>
            <a:ext cx="2514600" cy="530352"/>
          </a:xfrm>
          <a:prstGeom prst="roundRect">
            <a:avLst>
              <a:gd name="adj" fmla="val 8621"/>
            </a:avLst>
          </a:prstGeom>
          <a:solidFill>
            <a:srgbClr val="111827"/>
          </a:solidFill>
          <a:ln w="12700">
            <a:solidFill>
              <a:srgbClr val="111827"/>
            </a:solidFill>
            <a:prstDash val="solid"/>
          </a:ln>
        </p:spPr>
      </p:sp>
      <p:sp>
        <p:nvSpPr>
          <p:cNvPr id="37" name="Text 35"/>
          <p:cNvSpPr/>
          <p:nvPr/>
        </p:nvSpPr>
        <p:spPr>
          <a:xfrm>
            <a:off x="8778240" y="2706624"/>
            <a:ext cx="2240280" cy="164592"/>
          </a:xfrm>
          <a:prstGeom prst="rect">
            <a:avLst/>
          </a:prstGeom>
          <a:noFill/>
          <a:ln/>
        </p:spPr>
        <p:txBody>
          <a:bodyPr wrap="square" lIns="0" tIns="0" rIns="0" bIns="0" rtlCol="0" anchor="ctr"/>
          <a:lstStyle/>
          <a:p>
            <a:pPr indent="0" marL="0">
              <a:buNone/>
            </a:pPr>
            <a:r>
              <a:rPr lang="en-US" sz="1050" b="1" dirty="0">
                <a:solidFill>
                  <a:srgbClr val="67C5DA"/>
                </a:solidFill>
                <a:latin typeface="Courier New" pitchFamily="34" charset="0"/>
                <a:ea typeface="Courier New" pitchFamily="34" charset="-122"/>
                <a:cs typeface="Courier New" pitchFamily="34" charset="-120"/>
              </a:rPr>
              <a:t>changeguard report CG-102</a:t>
            </a:r>
            <a:endParaRPr lang="en-US" sz="1050" dirty="0"/>
          </a:p>
        </p:txBody>
      </p:sp>
      <p:sp>
        <p:nvSpPr>
          <p:cNvPr id="38" name="Text 36"/>
          <p:cNvSpPr/>
          <p:nvPr/>
        </p:nvSpPr>
        <p:spPr>
          <a:xfrm>
            <a:off x="8641080" y="3474720"/>
            <a:ext cx="2514600" cy="713232"/>
          </a:xfrm>
          <a:prstGeom prst="rect">
            <a:avLst/>
          </a:prstGeom>
          <a:noFill/>
          <a:ln/>
        </p:spPr>
        <p:txBody>
          <a:bodyPr wrap="square" lIns="0" tIns="0" rIns="0" bIns="0" rtlCol="0" anchor="ctr">
            <a:normAutofit/>
          </a:bodyPr>
          <a:lstStyle/>
          <a:p>
            <a:pPr indent="0" marL="0">
              <a:buNone/>
            </a:pPr>
            <a:r>
              <a:rPr lang="en-US" sz="1250" b="1" dirty="0">
                <a:solidFill>
                  <a:srgbClr val="26313D"/>
                </a:solidFill>
              </a:rPr>
              <a:t>Highlight the line: “Do not start CG-102 until CG-105 is merged.”</a:t>
            </a:r>
            <a:endParaRPr lang="en-US" sz="1250" dirty="0"/>
          </a:p>
        </p:txBody>
      </p:sp>
      <p:sp>
        <p:nvSpPr>
          <p:cNvPr id="39" name="Text 37"/>
          <p:cNvSpPr/>
          <p:nvPr/>
        </p:nvSpPr>
        <p:spPr>
          <a:xfrm>
            <a:off x="8641080" y="4434840"/>
            <a:ext cx="2514600" cy="548640"/>
          </a:xfrm>
          <a:prstGeom prst="rect">
            <a:avLst/>
          </a:prstGeom>
          <a:noFill/>
          <a:ln/>
        </p:spPr>
        <p:txBody>
          <a:bodyPr wrap="square" lIns="0" tIns="0" rIns="0" bIns="0" rtlCol="0" anchor="ctr">
            <a:normAutofit/>
          </a:bodyPr>
          <a:lstStyle/>
          <a:p>
            <a:pPr indent="0" marL="0">
              <a:buNone/>
            </a:pPr>
            <a:r>
              <a:rPr lang="en-US" sz="1200" dirty="0">
                <a:solidFill>
                  <a:srgbClr val="677281"/>
                </a:solidFill>
              </a:rPr>
              <a:t>That is the handoff a senior engineer would give.</a:t>
            </a:r>
            <a:endParaRPr lang="en-US" sz="1200" dirty="0"/>
          </a:p>
        </p:txBody>
      </p:sp>
      <p:sp>
        <p:nvSpPr>
          <p:cNvPr id="40" name="Shape 38"/>
          <p:cNvSpPr/>
          <p:nvPr/>
        </p:nvSpPr>
        <p:spPr>
          <a:xfrm>
            <a:off x="8641080" y="5257800"/>
            <a:ext cx="1417320" cy="283464"/>
          </a:xfrm>
          <a:prstGeom prst="roundRect">
            <a:avLst>
              <a:gd name="adj" fmla="val 25806"/>
            </a:avLst>
          </a:prstGeom>
          <a:solidFill>
            <a:srgbClr val="EAF6F8"/>
          </a:solidFill>
          <a:ln w="12700">
            <a:solidFill>
              <a:srgbClr val="EAF6F8"/>
            </a:solidFill>
            <a:prstDash val="solid"/>
          </a:ln>
        </p:spPr>
      </p:sp>
      <p:sp>
        <p:nvSpPr>
          <p:cNvPr id="41" name="Text 39"/>
          <p:cNvSpPr/>
          <p:nvPr/>
        </p:nvSpPr>
        <p:spPr>
          <a:xfrm>
            <a:off x="8714232" y="5317236"/>
            <a:ext cx="1271016" cy="146304"/>
          </a:xfrm>
          <a:prstGeom prst="rect">
            <a:avLst/>
          </a:prstGeom>
          <a:noFill/>
          <a:ln/>
        </p:spPr>
        <p:txBody>
          <a:bodyPr wrap="square" lIns="0" tIns="0" rIns="0" bIns="0" rtlCol="0" anchor="ctr">
            <a:normAutofit/>
          </a:bodyPr>
          <a:lstStyle/>
          <a:p>
            <a:pPr algn="ctr" indent="0" marL="0">
              <a:buNone/>
            </a:pPr>
            <a:r>
              <a:rPr lang="en-US" sz="840" b="1" dirty="0">
                <a:solidFill>
                  <a:srgbClr val="0E7490"/>
                </a:solidFill>
              </a:rPr>
              <a:t>25 SEC</a:t>
            </a:r>
            <a:endParaRPr lang="en-US" sz="840" dirty="0"/>
          </a:p>
        </p:txBody>
      </p:sp>
      <p:sp>
        <p:nvSpPr>
          <p:cNvPr id="25" name="Slide Number Placeholder 0"/>
          <p:cNvSpPr>
            <a:spLocks noGrp="1"/>
          </p:cNvSpPr>
          <p:nvPr>
            <p:ph type="sldNum" sz="quarter" idx="4294967295"/>
          </p:nvPr>
        </p:nvSpPr>
        <p:spPr>
          <a:xfrm>
            <a:off x="11475720" y="6419088"/>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8B95A3"/>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10789920" cy="420624"/>
          </a:xfrm>
          <a:prstGeom prst="rect">
            <a:avLst/>
          </a:prstGeom>
          <a:noFill/>
          <a:ln/>
        </p:spPr>
        <p:txBody>
          <a:bodyPr wrap="square" lIns="0" tIns="0" rIns="0" bIns="0" rtlCol="0" anchor="ctr">
            <a:normAutofit/>
          </a:bodyPr>
          <a:lstStyle/>
          <a:p>
            <a:pPr indent="0" marL="0">
              <a:buNone/>
            </a:pPr>
            <a:r>
              <a:rPr lang="en-US" sz="2800" b="1" dirty="0">
                <a:solidFill>
                  <a:srgbClr val="1F2A5A"/>
                </a:solidFill>
                <a:latin typeface="Aptos Display" pitchFamily="34" charset="0"/>
                <a:ea typeface="Aptos Display" pitchFamily="34" charset="-122"/>
                <a:cs typeface="Aptos Display" pitchFamily="34" charset="-120"/>
              </a:rPr>
              <a:t>Impact: less rework, faster coordination</a:t>
            </a:r>
            <a:endParaRPr lang="en-US" sz="2800" dirty="0"/>
          </a:p>
        </p:txBody>
      </p:sp>
      <p:sp>
        <p:nvSpPr>
          <p:cNvPr id="3" name="Text 1"/>
          <p:cNvSpPr/>
          <p:nvPr/>
        </p:nvSpPr>
        <p:spPr>
          <a:xfrm>
            <a:off x="585216" y="868680"/>
            <a:ext cx="10424160" cy="292608"/>
          </a:xfrm>
          <a:prstGeom prst="rect">
            <a:avLst/>
          </a:prstGeom>
          <a:noFill/>
          <a:ln/>
        </p:spPr>
        <p:txBody>
          <a:bodyPr wrap="square" lIns="0" tIns="0" rIns="0" bIns="0" rtlCol="0" anchor="ctr">
            <a:normAutofit/>
          </a:bodyPr>
          <a:lstStyle/>
          <a:p>
            <a:pPr indent="0" marL="0">
              <a:buNone/>
            </a:pPr>
            <a:r>
              <a:rPr lang="en-US" sz="1300" dirty="0">
                <a:solidFill>
                  <a:srgbClr val="677281"/>
                </a:solidFill>
              </a:rPr>
              <a:t>ChangeGuard gives every developer the context usually locked in a tech lead’s head.</a:t>
            </a:r>
            <a:endParaRPr lang="en-US" sz="1300" dirty="0"/>
          </a:p>
        </p:txBody>
      </p:sp>
      <p:sp>
        <p:nvSpPr>
          <p:cNvPr id="4" name="Shape 2"/>
          <p:cNvSpPr/>
          <p:nvPr/>
        </p:nvSpPr>
        <p:spPr>
          <a:xfrm>
            <a:off x="731520" y="1508760"/>
            <a:ext cx="3246120" cy="3246120"/>
          </a:xfrm>
          <a:prstGeom prst="roundRect">
            <a:avLst>
              <a:gd name="adj" fmla="val 2254"/>
            </a:avLst>
          </a:prstGeom>
          <a:solidFill>
            <a:srgbClr val="FFFFFF"/>
          </a:solidFill>
          <a:ln w="12700">
            <a:solidFill>
              <a:srgbClr val="D5DDE5"/>
            </a:solidFill>
            <a:prstDash val="solid"/>
          </a:ln>
          <a:effectLst>
            <a:outerShdw sx="100000" sy="100000" kx="0" ky="0" algn="bl" rotWithShape="0" blurRad="12700" dist="50800" dir="2700000">
              <a:srgbClr val="A7B0BC">
                <a:alpha val="10000"/>
              </a:srgbClr>
            </a:outerShdw>
          </a:effectLst>
        </p:spPr>
      </p:sp>
      <p:sp>
        <p:nvSpPr>
          <p:cNvPr id="5" name="Shape 3"/>
          <p:cNvSpPr/>
          <p:nvPr/>
        </p:nvSpPr>
        <p:spPr>
          <a:xfrm>
            <a:off x="1051560" y="1828800"/>
            <a:ext cx="475488" cy="475488"/>
          </a:xfrm>
          <a:prstGeom prst="ellipse">
            <a:avLst/>
          </a:prstGeom>
          <a:solidFill>
            <a:srgbClr val="2D8A67"/>
          </a:solidFill>
          <a:ln w="12700">
            <a:solidFill>
              <a:srgbClr val="2D8A67"/>
            </a:solidFill>
            <a:prstDash val="solid"/>
          </a:ln>
        </p:spPr>
      </p:sp>
      <p:sp>
        <p:nvSpPr>
          <p:cNvPr id="6" name="Text 4"/>
          <p:cNvSpPr/>
          <p:nvPr/>
        </p:nvSpPr>
        <p:spPr>
          <a:xfrm>
            <a:off x="1051560" y="1865376"/>
            <a:ext cx="475488" cy="402336"/>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7" name="Text 5"/>
          <p:cNvSpPr/>
          <p:nvPr/>
        </p:nvSpPr>
        <p:spPr>
          <a:xfrm>
            <a:off x="1664208" y="1865376"/>
            <a:ext cx="1737360" cy="274320"/>
          </a:xfrm>
          <a:prstGeom prst="rect">
            <a:avLst/>
          </a:prstGeom>
          <a:noFill/>
          <a:ln/>
        </p:spPr>
        <p:txBody>
          <a:bodyPr wrap="square" lIns="0" tIns="0" rIns="0" bIns="0" rtlCol="0" anchor="ctr"/>
          <a:lstStyle/>
          <a:p>
            <a:pPr indent="0" marL="0">
              <a:buNone/>
            </a:pPr>
            <a:r>
              <a:rPr lang="en-US" sz="1700" b="1" dirty="0">
                <a:solidFill>
                  <a:srgbClr val="1F2A5A"/>
                </a:solidFill>
              </a:rPr>
              <a:t>Before coding</a:t>
            </a:r>
            <a:endParaRPr lang="en-US" sz="1700" dirty="0"/>
          </a:p>
        </p:txBody>
      </p:sp>
      <p:sp>
        <p:nvSpPr>
          <p:cNvPr id="8" name="Text 6"/>
          <p:cNvSpPr/>
          <p:nvPr/>
        </p:nvSpPr>
        <p:spPr>
          <a:xfrm>
            <a:off x="1051560" y="2542032"/>
            <a:ext cx="2514600" cy="822960"/>
          </a:xfrm>
          <a:prstGeom prst="rect">
            <a:avLst/>
          </a:prstGeom>
          <a:noFill/>
          <a:ln/>
        </p:spPr>
        <p:txBody>
          <a:bodyPr wrap="square" lIns="0" tIns="0" rIns="0" bIns="0" rtlCol="0" anchor="ctr">
            <a:normAutofit/>
          </a:bodyPr>
          <a:lstStyle/>
          <a:p>
            <a:pPr indent="0" marL="0">
              <a:buNone/>
            </a:pPr>
            <a:r>
              <a:rPr lang="en-US" sz="1350" dirty="0">
                <a:solidFill>
                  <a:srgbClr val="26313D"/>
                </a:solidFill>
              </a:rPr>
              <a:t>Developers see prerequisites and hot files before they start implementation.</a:t>
            </a:r>
            <a:endParaRPr lang="en-US" sz="1350" dirty="0"/>
          </a:p>
        </p:txBody>
      </p:sp>
      <p:sp>
        <p:nvSpPr>
          <p:cNvPr id="9" name="Text 7"/>
          <p:cNvSpPr/>
          <p:nvPr/>
        </p:nvSpPr>
        <p:spPr>
          <a:xfrm>
            <a:off x="1051560" y="3877056"/>
            <a:ext cx="2514600" cy="329184"/>
          </a:xfrm>
          <a:prstGeom prst="rect">
            <a:avLst/>
          </a:prstGeom>
          <a:noFill/>
          <a:ln/>
        </p:spPr>
        <p:txBody>
          <a:bodyPr wrap="square" lIns="0" tIns="0" rIns="0" bIns="0" rtlCol="0" anchor="ctr"/>
          <a:lstStyle/>
          <a:p>
            <a:pPr indent="0" marL="0">
              <a:buNone/>
            </a:pPr>
            <a:r>
              <a:rPr lang="en-US" sz="1250" b="1" dirty="0">
                <a:solidFill>
                  <a:srgbClr val="2D8A67"/>
                </a:solidFill>
              </a:rPr>
              <a:t>Reduces blocked work and wrong sequencing.</a:t>
            </a:r>
            <a:endParaRPr lang="en-US" sz="1250" dirty="0"/>
          </a:p>
        </p:txBody>
      </p:sp>
      <p:sp>
        <p:nvSpPr>
          <p:cNvPr id="10" name="Shape 8"/>
          <p:cNvSpPr/>
          <p:nvPr/>
        </p:nvSpPr>
        <p:spPr>
          <a:xfrm>
            <a:off x="4462272" y="1508760"/>
            <a:ext cx="3246120" cy="3246120"/>
          </a:xfrm>
          <a:prstGeom prst="roundRect">
            <a:avLst>
              <a:gd name="adj" fmla="val 2254"/>
            </a:avLst>
          </a:prstGeom>
          <a:solidFill>
            <a:srgbClr val="FFFFFF"/>
          </a:solidFill>
          <a:ln w="12700">
            <a:solidFill>
              <a:srgbClr val="D5DDE5"/>
            </a:solidFill>
            <a:prstDash val="solid"/>
          </a:ln>
          <a:effectLst>
            <a:outerShdw sx="100000" sy="100000" kx="0" ky="0" algn="bl" rotWithShape="0" blurRad="12700" dist="50800" dir="2700000">
              <a:srgbClr val="A7B0BC">
                <a:alpha val="10000"/>
              </a:srgbClr>
            </a:outerShdw>
          </a:effectLst>
        </p:spPr>
      </p:sp>
      <p:sp>
        <p:nvSpPr>
          <p:cNvPr id="11" name="Shape 9"/>
          <p:cNvSpPr/>
          <p:nvPr/>
        </p:nvSpPr>
        <p:spPr>
          <a:xfrm>
            <a:off x="4782312" y="1828800"/>
            <a:ext cx="475488" cy="475488"/>
          </a:xfrm>
          <a:prstGeom prst="ellipse">
            <a:avLst/>
          </a:prstGeom>
          <a:solidFill>
            <a:srgbClr val="0E7490"/>
          </a:solidFill>
          <a:ln w="12700">
            <a:solidFill>
              <a:srgbClr val="0E7490"/>
            </a:solidFill>
            <a:prstDash val="solid"/>
          </a:ln>
        </p:spPr>
      </p:sp>
      <p:sp>
        <p:nvSpPr>
          <p:cNvPr id="12" name="Text 10"/>
          <p:cNvSpPr/>
          <p:nvPr/>
        </p:nvSpPr>
        <p:spPr>
          <a:xfrm>
            <a:off x="4782312" y="1865376"/>
            <a:ext cx="475488" cy="402336"/>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3" name="Text 11"/>
          <p:cNvSpPr/>
          <p:nvPr/>
        </p:nvSpPr>
        <p:spPr>
          <a:xfrm>
            <a:off x="5394960" y="1865376"/>
            <a:ext cx="1737360" cy="274320"/>
          </a:xfrm>
          <a:prstGeom prst="rect">
            <a:avLst/>
          </a:prstGeom>
          <a:noFill/>
          <a:ln/>
        </p:spPr>
        <p:txBody>
          <a:bodyPr wrap="square" lIns="0" tIns="0" rIns="0" bIns="0" rtlCol="0" anchor="ctr"/>
          <a:lstStyle/>
          <a:p>
            <a:pPr indent="0" marL="0">
              <a:buNone/>
            </a:pPr>
            <a:r>
              <a:rPr lang="en-US" sz="1700" b="1" dirty="0">
                <a:solidFill>
                  <a:srgbClr val="1F2A5A"/>
                </a:solidFill>
              </a:rPr>
              <a:t>During work</a:t>
            </a:r>
            <a:endParaRPr lang="en-US" sz="1700" dirty="0"/>
          </a:p>
        </p:txBody>
      </p:sp>
      <p:sp>
        <p:nvSpPr>
          <p:cNvPr id="14" name="Text 12"/>
          <p:cNvSpPr/>
          <p:nvPr/>
        </p:nvSpPr>
        <p:spPr>
          <a:xfrm>
            <a:off x="4782312" y="2542032"/>
            <a:ext cx="2514600" cy="822960"/>
          </a:xfrm>
          <a:prstGeom prst="rect">
            <a:avLst/>
          </a:prstGeom>
          <a:noFill/>
          <a:ln/>
        </p:spPr>
        <p:txBody>
          <a:bodyPr wrap="square" lIns="0" tIns="0" rIns="0" bIns="0" rtlCol="0" anchor="ctr">
            <a:normAutofit/>
          </a:bodyPr>
          <a:lstStyle/>
          <a:p>
            <a:pPr indent="0" marL="0">
              <a:buNone/>
            </a:pPr>
            <a:r>
              <a:rPr lang="en-US" sz="1350" dirty="0">
                <a:solidFill>
                  <a:srgbClr val="26313D"/>
                </a:solidFill>
              </a:rPr>
              <a:t>Teams coordinate around same-file changes while work is still in flight.</a:t>
            </a:r>
            <a:endParaRPr lang="en-US" sz="1350" dirty="0"/>
          </a:p>
        </p:txBody>
      </p:sp>
      <p:sp>
        <p:nvSpPr>
          <p:cNvPr id="15" name="Text 13"/>
          <p:cNvSpPr/>
          <p:nvPr/>
        </p:nvSpPr>
        <p:spPr>
          <a:xfrm>
            <a:off x="4782312" y="3877056"/>
            <a:ext cx="2514600" cy="329184"/>
          </a:xfrm>
          <a:prstGeom prst="rect">
            <a:avLst/>
          </a:prstGeom>
          <a:noFill/>
          <a:ln/>
        </p:spPr>
        <p:txBody>
          <a:bodyPr wrap="square" lIns="0" tIns="0" rIns="0" bIns="0" rtlCol="0" anchor="ctr"/>
          <a:lstStyle/>
          <a:p>
            <a:pPr indent="0" marL="0">
              <a:buNone/>
            </a:pPr>
            <a:r>
              <a:rPr lang="en-US" sz="1250" b="1" dirty="0">
                <a:solidFill>
                  <a:srgbClr val="0E7490"/>
                </a:solidFill>
              </a:rPr>
              <a:t>Reduces merge surprises and context switching.</a:t>
            </a:r>
            <a:endParaRPr lang="en-US" sz="1250" dirty="0"/>
          </a:p>
        </p:txBody>
      </p:sp>
      <p:sp>
        <p:nvSpPr>
          <p:cNvPr id="16" name="Shape 14"/>
          <p:cNvSpPr/>
          <p:nvPr/>
        </p:nvSpPr>
        <p:spPr>
          <a:xfrm>
            <a:off x="8183880" y="1508760"/>
            <a:ext cx="3246120" cy="3246120"/>
          </a:xfrm>
          <a:prstGeom prst="roundRect">
            <a:avLst>
              <a:gd name="adj" fmla="val 2254"/>
            </a:avLst>
          </a:prstGeom>
          <a:solidFill>
            <a:srgbClr val="FFFFFF"/>
          </a:solidFill>
          <a:ln w="12700">
            <a:solidFill>
              <a:srgbClr val="D5DDE5"/>
            </a:solidFill>
            <a:prstDash val="solid"/>
          </a:ln>
          <a:effectLst>
            <a:outerShdw sx="100000" sy="100000" kx="0" ky="0" algn="bl" rotWithShape="0" blurRad="12700" dist="50800" dir="2700000">
              <a:srgbClr val="A7B0BC">
                <a:alpha val="10000"/>
              </a:srgbClr>
            </a:outerShdw>
          </a:effectLst>
        </p:spPr>
      </p:sp>
      <p:sp>
        <p:nvSpPr>
          <p:cNvPr id="17" name="Shape 15"/>
          <p:cNvSpPr/>
          <p:nvPr/>
        </p:nvSpPr>
        <p:spPr>
          <a:xfrm>
            <a:off x="8503920" y="1828800"/>
            <a:ext cx="475488" cy="475488"/>
          </a:xfrm>
          <a:prstGeom prst="ellipse">
            <a:avLst/>
          </a:prstGeom>
          <a:solidFill>
            <a:srgbClr val="1F2A5A"/>
          </a:solidFill>
          <a:ln w="12700">
            <a:solidFill>
              <a:srgbClr val="1F2A5A"/>
            </a:solidFill>
            <a:prstDash val="solid"/>
          </a:ln>
        </p:spPr>
      </p:sp>
      <p:sp>
        <p:nvSpPr>
          <p:cNvPr id="18" name="Text 16"/>
          <p:cNvSpPr/>
          <p:nvPr/>
        </p:nvSpPr>
        <p:spPr>
          <a:xfrm>
            <a:off x="8503920" y="1865376"/>
            <a:ext cx="475488" cy="402336"/>
          </a:xfrm>
          <a:prstGeom prst="rect">
            <a:avLst/>
          </a:prstGeom>
          <a:noFill/>
          <a:ln/>
        </p:spPr>
        <p:txBody>
          <a:bodyPr wrap="square" lIns="0" tIns="0" rIns="0" bIns="0" rtlCol="0" anchor="ctr"/>
          <a:lstStyle/>
          <a:p>
            <a:pPr algn="ctr" indent="0" marL="0">
              <a:buNone/>
            </a:pPr>
            <a:r>
              <a:rPr lang="en-US" sz="1200" b="1" dirty="0">
                <a:solidFill>
                  <a:srgbClr val="FFFFFF"/>
                </a:solidFill>
              </a:rPr>
              <a:t>AI</a:t>
            </a:r>
            <a:endParaRPr lang="en-US" sz="1200" dirty="0"/>
          </a:p>
        </p:txBody>
      </p:sp>
      <p:sp>
        <p:nvSpPr>
          <p:cNvPr id="19" name="Text 17"/>
          <p:cNvSpPr/>
          <p:nvPr/>
        </p:nvSpPr>
        <p:spPr>
          <a:xfrm>
            <a:off x="9116568" y="1865376"/>
            <a:ext cx="1737360" cy="274320"/>
          </a:xfrm>
          <a:prstGeom prst="rect">
            <a:avLst/>
          </a:prstGeom>
          <a:noFill/>
          <a:ln/>
        </p:spPr>
        <p:txBody>
          <a:bodyPr wrap="square" lIns="0" tIns="0" rIns="0" bIns="0" rtlCol="0" anchor="ctr"/>
          <a:lstStyle/>
          <a:p>
            <a:pPr indent="0" marL="0">
              <a:buNone/>
            </a:pPr>
            <a:r>
              <a:rPr lang="en-US" sz="1700" b="1" dirty="0">
                <a:solidFill>
                  <a:srgbClr val="1F2A5A"/>
                </a:solidFill>
              </a:rPr>
              <a:t>At scale</a:t>
            </a:r>
            <a:endParaRPr lang="en-US" sz="1700" dirty="0"/>
          </a:p>
        </p:txBody>
      </p:sp>
      <p:sp>
        <p:nvSpPr>
          <p:cNvPr id="20" name="Text 18"/>
          <p:cNvSpPr/>
          <p:nvPr/>
        </p:nvSpPr>
        <p:spPr>
          <a:xfrm>
            <a:off x="8503920" y="2542032"/>
            <a:ext cx="2514600" cy="822960"/>
          </a:xfrm>
          <a:prstGeom prst="rect">
            <a:avLst/>
          </a:prstGeom>
          <a:noFill/>
          <a:ln/>
        </p:spPr>
        <p:txBody>
          <a:bodyPr wrap="square" lIns="0" tIns="0" rIns="0" bIns="0" rtlCol="0" anchor="ctr">
            <a:normAutofit/>
          </a:bodyPr>
          <a:lstStyle/>
          <a:p>
            <a:pPr indent="0" marL="0">
              <a:buNone/>
            </a:pPr>
            <a:r>
              <a:rPr lang="en-US" sz="1350" dirty="0">
                <a:solidFill>
                  <a:srgbClr val="26313D"/>
                </a:solidFill>
              </a:rPr>
              <a:t>The brief gives senior-engineer guidance for every ticket, on demand.</a:t>
            </a:r>
            <a:endParaRPr lang="en-US" sz="1350" dirty="0"/>
          </a:p>
        </p:txBody>
      </p:sp>
      <p:sp>
        <p:nvSpPr>
          <p:cNvPr id="21" name="Text 19"/>
          <p:cNvSpPr/>
          <p:nvPr/>
        </p:nvSpPr>
        <p:spPr>
          <a:xfrm>
            <a:off x="8503920" y="3877056"/>
            <a:ext cx="2514600" cy="329184"/>
          </a:xfrm>
          <a:prstGeom prst="rect">
            <a:avLst/>
          </a:prstGeom>
          <a:noFill/>
          <a:ln/>
        </p:spPr>
        <p:txBody>
          <a:bodyPr wrap="square" lIns="0" tIns="0" rIns="0" bIns="0" rtlCol="0" anchor="ctr"/>
          <a:lstStyle/>
          <a:p>
            <a:pPr indent="0" marL="0">
              <a:buNone/>
            </a:pPr>
            <a:r>
              <a:rPr lang="en-US" sz="1250" b="1" dirty="0">
                <a:solidFill>
                  <a:srgbClr val="1F2A5A"/>
                </a:solidFill>
              </a:rPr>
              <a:t>Reduces tribal knowledge and manual handoffs.</a:t>
            </a:r>
            <a:endParaRPr lang="en-US" sz="1250" dirty="0"/>
          </a:p>
        </p:txBody>
      </p:sp>
      <p:sp>
        <p:nvSpPr>
          <p:cNvPr id="22" name="Shape 20"/>
          <p:cNvSpPr/>
          <p:nvPr/>
        </p:nvSpPr>
        <p:spPr>
          <a:xfrm>
            <a:off x="1143000" y="5349240"/>
            <a:ext cx="9921240" cy="685800"/>
          </a:xfrm>
          <a:prstGeom prst="roundRect">
            <a:avLst>
              <a:gd name="adj" fmla="val 10667"/>
            </a:avLst>
          </a:prstGeom>
          <a:solidFill>
            <a:srgbClr val="1F2A5A"/>
          </a:solidFill>
          <a:ln w="12700">
            <a:solidFill>
              <a:srgbClr val="1F2A5A"/>
            </a:solidFill>
            <a:prstDash val="solid"/>
          </a:ln>
        </p:spPr>
      </p:sp>
      <p:sp>
        <p:nvSpPr>
          <p:cNvPr id="23" name="Text 21"/>
          <p:cNvSpPr/>
          <p:nvPr/>
        </p:nvSpPr>
        <p:spPr>
          <a:xfrm>
            <a:off x="1417320" y="5559552"/>
            <a:ext cx="9372600" cy="256032"/>
          </a:xfrm>
          <a:prstGeom prst="rect">
            <a:avLst/>
          </a:prstGeom>
          <a:noFill/>
          <a:ln/>
        </p:spPr>
        <p:txBody>
          <a:bodyPr wrap="square" lIns="0" tIns="0" rIns="0" bIns="0" rtlCol="0" anchor="ctr">
            <a:normAutofit/>
          </a:bodyPr>
          <a:lstStyle/>
          <a:p>
            <a:pPr algn="ctr" indent="0" marL="0">
              <a:buNone/>
            </a:pPr>
            <a:r>
              <a:rPr lang="en-US" sz="1340" b="1" dirty="0">
                <a:solidFill>
                  <a:srgbClr val="FFFFFF"/>
                </a:solidFill>
              </a:rPr>
              <a:t>ChangeGuard does not replace engineers — it gives them the missing map of in-flight work.</a:t>
            </a:r>
            <a:endParaRPr lang="en-US" sz="1340" dirty="0"/>
          </a:p>
        </p:txBody>
      </p:sp>
      <p:sp>
        <p:nvSpPr>
          <p:cNvPr id="25" name="Slide Number Placeholder 0"/>
          <p:cNvSpPr>
            <a:spLocks noGrp="1"/>
          </p:cNvSpPr>
          <p:nvPr>
            <p:ph type="sldNum" sz="quarter" idx="4294967295"/>
          </p:nvPr>
        </p:nvSpPr>
        <p:spPr>
          <a:xfrm>
            <a:off x="11475720" y="6419088"/>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8B95A3"/>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IBM Hackathon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ChangeGuard — 3 Minute Demo Presentation with Reliability Slide</dc:title>
  <dc:subject>ChangeGuard 3-minute demo presentation</dc:subject>
  <dc:creator>OpenAI</dc:creator>
  <cp:lastModifiedBy>OpenAI</cp:lastModifiedBy>
  <cp:revision>1</cp:revision>
  <dcterms:created xsi:type="dcterms:W3CDTF">2026-08-30T07:27:29Z</dcterms:created>
  <dcterms:modified xsi:type="dcterms:W3CDTF">2026-08-30T07:27:29Z</dcterms:modified>
</cp:coreProperties>
</file>